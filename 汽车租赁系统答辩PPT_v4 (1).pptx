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1218882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36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汽车租赁系统的开发与设计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377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99AA"/>
                </a:solidFill>
                <a:latin typeface="微软雅黑" panose="020B0503020204020204" charset="-122"/>
              </a:defRPr>
            </a:pPr>
            <a:r>
              <a:t>Development and Design of Car Rental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017520"/>
            <a:ext cx="2103120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291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项目答辩  |  汽车租赁系统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840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BBCC"/>
                </a:solidFill>
                <a:latin typeface="微软雅黑" panose="020B0503020204020204" charset="-122"/>
              </a:defRPr>
            </a:pPr>
            <a:r>
              <a:t>技术栈：Spring Boot + Vue 3 + MySQL + AI大模型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4754880"/>
            <a:ext cx="1645920" cy="457200"/>
          </a:xfrm>
          <a:prstGeom prst="roundRect">
            <a:avLst/>
          </a:prstGeom>
          <a:solidFill>
            <a:srgbClr val="2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482803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D4A017"/>
                </a:solidFill>
                <a:latin typeface="微软雅黑" panose="020B0503020204020204" charset="-122"/>
              </a:defRPr>
            </a:pPr>
            <a:r>
              <a:t>登录注册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4754880"/>
            <a:ext cx="1645920" cy="457200"/>
          </a:xfrm>
          <a:prstGeom prst="roundRect">
            <a:avLst/>
          </a:prstGeom>
          <a:solidFill>
            <a:srgbClr val="2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482803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D4A017"/>
                </a:solidFill>
                <a:latin typeface="微软雅黑" panose="020B0503020204020204" charset="-122"/>
              </a:defRPr>
            </a:pPr>
            <a:r>
              <a:t>租车服务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12080" y="4754880"/>
            <a:ext cx="1645920" cy="457200"/>
          </a:xfrm>
          <a:prstGeom prst="roundRect">
            <a:avLst/>
          </a:prstGeom>
          <a:solidFill>
            <a:srgbClr val="2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0" y="482803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D4A017"/>
                </a:solidFill>
                <a:latin typeface="微软雅黑" panose="020B0503020204020204" charset="-122"/>
              </a:defRPr>
            </a:pPr>
            <a:r>
              <a:t>订单管理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0" y="4754880"/>
            <a:ext cx="1645920" cy="457200"/>
          </a:xfrm>
          <a:prstGeom prst="roundRect">
            <a:avLst/>
          </a:prstGeom>
          <a:solidFill>
            <a:srgbClr val="2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0" y="482803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D4A017"/>
                </a:solidFill>
                <a:latin typeface="微软雅黑" panose="020B0503020204020204" charset="-122"/>
              </a:defRPr>
            </a:pPr>
            <a:r>
              <a:t>AI智能选车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4754880"/>
            <a:ext cx="1645920" cy="457200"/>
          </a:xfrm>
          <a:prstGeom prst="roundRect">
            <a:avLst/>
          </a:prstGeom>
          <a:solidFill>
            <a:srgbClr val="2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0" y="482803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D4A017"/>
                </a:solidFill>
                <a:latin typeface="微软雅黑" panose="020B0503020204020204" charset="-122"/>
              </a:defRPr>
            </a:pPr>
            <a:r>
              <a:t>RAG维护预测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99AA"/>
                </a:solidFill>
                <a:latin typeface="微软雅黑" panose="020B0503020204020204" charset="-122"/>
              </a:defRPr>
            </a:pPr>
            <a: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2/19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005840"/>
            <a:ext cx="502920" cy="502920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005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项目背景与意义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29844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行业背景、项目目标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1755648"/>
            <a:ext cx="502920" cy="502920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80136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75564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需求分析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048256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功能需求、负责分工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2505456"/>
            <a:ext cx="502920" cy="502920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551176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50545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技术选型与架构设计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798064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前后端分离架构、技术栈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3255264"/>
            <a:ext cx="502920" cy="502920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300984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325526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数据库设计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54787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6张核心表设计</a:t>
            </a:r>
          </a:p>
        </p:txBody>
      </p:sp>
      <p:sp>
        <p:nvSpPr>
          <p:cNvPr id="22" name="Oval 21"/>
          <p:cNvSpPr/>
          <p:nvPr/>
        </p:nvSpPr>
        <p:spPr>
          <a:xfrm>
            <a:off x="548640" y="4005072"/>
            <a:ext cx="502920" cy="502920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050792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005072"/>
            <a:ext cx="5029200" cy="291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用户模块 [</a:t>
            </a:r>
            <a:r>
              <a:rPr lang="zh-CN"/>
              <a:t>许海青</a:t>
            </a:r>
            <a:r>
              <a:t>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42976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登录/注册/找回密码/信息管理</a:t>
            </a:r>
          </a:p>
        </p:txBody>
      </p:sp>
      <p:sp>
        <p:nvSpPr>
          <p:cNvPr id="26" name="Oval 25"/>
          <p:cNvSpPr/>
          <p:nvPr/>
        </p:nvSpPr>
        <p:spPr>
          <a:xfrm>
            <a:off x="548640" y="4754880"/>
            <a:ext cx="502920" cy="502920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80060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47548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邮箱验证码与注册安全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504748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真实SMTP邮件/人机验证</a:t>
            </a:r>
          </a:p>
        </p:txBody>
      </p:sp>
      <p:sp>
        <p:nvSpPr>
          <p:cNvPr id="30" name="Oval 29"/>
          <p:cNvSpPr/>
          <p:nvPr/>
        </p:nvSpPr>
        <p:spPr>
          <a:xfrm>
            <a:off x="548640" y="5504688"/>
            <a:ext cx="502920" cy="502920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55040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5504688"/>
            <a:ext cx="5029200" cy="291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用户信息管理 [</a:t>
            </a:r>
            <a:r>
              <a:rPr lang="zh-CN"/>
              <a:t>许海青</a:t>
            </a:r>
            <a:r>
              <a:t>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5797296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脱敏显示/密码验证查看</a:t>
            </a:r>
          </a:p>
        </p:txBody>
      </p:sp>
      <p:sp>
        <p:nvSpPr>
          <p:cNvPr id="34" name="Oval 33"/>
          <p:cNvSpPr/>
          <p:nvPr/>
        </p:nvSpPr>
        <p:spPr>
          <a:xfrm>
            <a:off x="6492240" y="1005840"/>
            <a:ext cx="502920" cy="502920"/>
          </a:xfrm>
          <a:prstGeom prst="ellipse">
            <a:avLst/>
          </a:prstGeom>
          <a:solidFill>
            <a:srgbClr val="162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105156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0" y="1005840"/>
            <a:ext cx="5029200" cy="291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租车服务 [</a:t>
            </a:r>
            <a:r>
              <a:rPr lang="zh-CN"/>
              <a:t>金杭</a:t>
            </a:r>
            <a:r>
              <a:t>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0" y="129844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车辆浏览/租赁/归还/预约</a:t>
            </a:r>
          </a:p>
        </p:txBody>
      </p:sp>
      <p:sp>
        <p:nvSpPr>
          <p:cNvPr id="38" name="Oval 37"/>
          <p:cNvSpPr/>
          <p:nvPr/>
        </p:nvSpPr>
        <p:spPr>
          <a:xfrm>
            <a:off x="6492240" y="1755648"/>
            <a:ext cx="502920" cy="502920"/>
          </a:xfrm>
          <a:prstGeom prst="ellipse">
            <a:avLst/>
          </a:prstGeom>
          <a:solidFill>
            <a:srgbClr val="162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2240" y="180136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0" y="175564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订单与支付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32320" y="2048256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费用结算/订单中心</a:t>
            </a:r>
          </a:p>
        </p:txBody>
      </p:sp>
      <p:sp>
        <p:nvSpPr>
          <p:cNvPr id="42" name="Oval 41"/>
          <p:cNvSpPr/>
          <p:nvPr/>
        </p:nvSpPr>
        <p:spPr>
          <a:xfrm>
            <a:off x="6492240" y="2505456"/>
            <a:ext cx="502920" cy="502920"/>
          </a:xfrm>
          <a:prstGeom prst="ellipse">
            <a:avLst/>
          </a:prstGeom>
          <a:solidFill>
            <a:srgbClr val="162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92240" y="2551176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32320" y="250545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AI智能选车助手 [共同]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32320" y="2798064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基础任务 - 大模型推荐</a:t>
            </a:r>
          </a:p>
        </p:txBody>
      </p:sp>
      <p:sp>
        <p:nvSpPr>
          <p:cNvPr id="46" name="Oval 45"/>
          <p:cNvSpPr/>
          <p:nvPr/>
        </p:nvSpPr>
        <p:spPr>
          <a:xfrm>
            <a:off x="6492240" y="3255264"/>
            <a:ext cx="502920" cy="502920"/>
          </a:xfrm>
          <a:prstGeom prst="ellipse">
            <a:avLst/>
          </a:prstGeom>
          <a:solidFill>
            <a:srgbClr val="162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92240" y="3300984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11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32320" y="325526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AI维护预测看板 [共同]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32320" y="354787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进阶任务 - RAG知识库</a:t>
            </a:r>
          </a:p>
        </p:txBody>
      </p:sp>
      <p:sp>
        <p:nvSpPr>
          <p:cNvPr id="50" name="Oval 49"/>
          <p:cNvSpPr/>
          <p:nvPr/>
        </p:nvSpPr>
        <p:spPr>
          <a:xfrm>
            <a:off x="6492240" y="4005072"/>
            <a:ext cx="502920" cy="502920"/>
          </a:xfrm>
          <a:prstGeom prst="ellipse">
            <a:avLst/>
          </a:prstGeom>
          <a:solidFill>
            <a:srgbClr val="162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92240" y="4050792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12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32320" y="400507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额外实现功能点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0" y="42976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优惠券/司机/客服/管理员分离</a:t>
            </a:r>
          </a:p>
        </p:txBody>
      </p:sp>
      <p:sp>
        <p:nvSpPr>
          <p:cNvPr id="54" name="Oval 53"/>
          <p:cNvSpPr/>
          <p:nvPr/>
        </p:nvSpPr>
        <p:spPr>
          <a:xfrm>
            <a:off x="6492240" y="4754880"/>
            <a:ext cx="502920" cy="502920"/>
          </a:xfrm>
          <a:prstGeom prst="ellipse">
            <a:avLst/>
          </a:prstGeom>
          <a:solidFill>
            <a:srgbClr val="162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92240" y="480060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13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32320" y="47548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项目亮点与技术难点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132320" y="504748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创新点与解决方案</a:t>
            </a:r>
          </a:p>
        </p:txBody>
      </p:sp>
      <p:sp>
        <p:nvSpPr>
          <p:cNvPr id="58" name="Oval 57"/>
          <p:cNvSpPr/>
          <p:nvPr/>
        </p:nvSpPr>
        <p:spPr>
          <a:xfrm>
            <a:off x="6492240" y="5504688"/>
            <a:ext cx="502920" cy="502920"/>
          </a:xfrm>
          <a:prstGeom prst="ellipse">
            <a:avLst/>
          </a:prstGeom>
          <a:solidFill>
            <a:srgbClr val="162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92240" y="555040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14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132320" y="550468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总结与展望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132320" y="5797296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项目成果与未来规划</a:t>
            </a:r>
          </a:p>
        </p:txBody>
      </p:sp>
      <p:sp>
        <p:nvSpPr>
          <p:cNvPr id="62" name="Rectangle 6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项目背景与意义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99AA"/>
                </a:solidFill>
                <a:latin typeface="微软雅黑" panose="020B0503020204020204" charset="-122"/>
              </a:defRPr>
            </a:pPr>
            <a:r>
              <a:t>PROJECT BACKGROUND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3/19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914400"/>
            <a:ext cx="5486400" cy="53035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097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行业背景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459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60"/>
              </a:spcAft>
              <a:defRPr sz="12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汽车租赁行业市场规模持续扩大，用户需求多样化</a:t>
            </a:r>
          </a:p>
          <a:p>
            <a:pPr algn="l">
              <a:spcAft>
                <a:spcPts val="1160"/>
              </a:spcAft>
              <a:defRPr sz="12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传统租车流程繁琐：人工登记、电话沟通效率低</a:t>
            </a:r>
          </a:p>
          <a:p>
            <a:pPr algn="l">
              <a:spcAft>
                <a:spcPts val="1160"/>
              </a:spcAft>
              <a:defRPr sz="12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用户选车困难：面对众多车型难以做出决策</a:t>
            </a:r>
          </a:p>
          <a:p>
            <a:pPr algn="l">
              <a:spcAft>
                <a:spcPts val="1160"/>
              </a:spcAft>
              <a:defRPr sz="12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车辆维护管理粗放：缺乏数据化的维护预测</a:t>
            </a:r>
          </a:p>
          <a:p>
            <a:pPr algn="l">
              <a:spcAft>
                <a:spcPts val="1160"/>
              </a:spcAft>
              <a:defRPr sz="12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AI技术发展为行业智能化升级提供新机遇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914400"/>
            <a:ext cx="5486400" cy="530352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097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621E3"/>
                </a:solidFill>
                <a:latin typeface="微软雅黑" panose="020B0503020204020204" charset="-122"/>
              </a:defRPr>
            </a:pPr>
            <a:r>
              <a:t>项目目标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6459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60"/>
              </a:spcAft>
              <a:defRPr sz="12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构建前后端分离的汽车租赁管理系统</a:t>
            </a:r>
          </a:p>
          <a:p>
            <a:pPr algn="l">
              <a:spcAft>
                <a:spcPts val="1160"/>
              </a:spcAft>
              <a:defRPr sz="12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实现用户注册登录、车辆浏览、在线租赁、</a:t>
            </a:r>
          </a:p>
          <a:p>
            <a:pPr algn="l">
              <a:spcAft>
                <a:spcPts val="1160"/>
              </a:spcAft>
              <a:defRPr sz="12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订单管理、费用支付等核心业务流程</a:t>
            </a:r>
          </a:p>
          <a:p>
            <a:pPr algn="l">
              <a:spcAft>
                <a:spcPts val="1160"/>
              </a:spcAft>
              <a:defRPr sz="12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引入AI大模型实现智能选车推荐，提升用户</a:t>
            </a:r>
          </a:p>
          <a:p>
            <a:pPr algn="l">
              <a:spcAft>
                <a:spcPts val="1160"/>
              </a:spcAft>
              <a:defRPr sz="12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选车体验</a:t>
            </a:r>
          </a:p>
          <a:p>
            <a:pPr algn="l">
              <a:spcAft>
                <a:spcPts val="1160"/>
              </a:spcAft>
              <a:defRPr sz="12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基于RAG知识库构建车辆维护预测看板，实</a:t>
            </a:r>
          </a:p>
          <a:p>
            <a:pPr algn="l">
              <a:spcAft>
                <a:spcPts val="1160"/>
              </a:spcAft>
              <a:defRPr sz="12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现数据化车辆管理</a:t>
            </a:r>
          </a:p>
          <a:p>
            <a:pPr algn="l">
              <a:spcAft>
                <a:spcPts val="1160"/>
              </a:spcAft>
              <a:defRPr sz="12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支持预约租车、带司机服务等增值功能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需求分析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99AA"/>
                </a:solidFill>
                <a:latin typeface="微软雅黑" panose="020B0503020204020204" charset="-122"/>
              </a:defRPr>
            </a:pPr>
            <a:r>
              <a:t>REQUIREMENT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4/19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22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功能需求一览表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1508760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161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主功能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65960" y="1188720"/>
            <a:ext cx="2103120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57400" y="1216152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功能项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69080" y="1188720"/>
            <a:ext cx="6400800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60520" y="1216152"/>
            <a:ext cx="6263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功能描述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69880" y="1188720"/>
            <a:ext cx="1143000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61320" y="12161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负责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508760"/>
            <a:ext cx="150876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152704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登录/注册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65960" y="1508760"/>
            <a:ext cx="210312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57400" y="1527048"/>
            <a:ext cx="1965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用户登录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69080" y="1508760"/>
            <a:ext cx="640080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60520" y="1527048"/>
            <a:ext cx="6263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账号密码登录，连续失败5次账号冻结（递增锁定）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69880" y="1508760"/>
            <a:ext cx="114300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61320" y="152704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许海青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1792224"/>
            <a:ext cx="1508760" cy="283464"/>
          </a:xfrm>
          <a:prstGeom prst="rect">
            <a:avLst/>
          </a:prstGeom>
          <a:solidFill>
            <a:srgbClr val="F5F7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181051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2E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26" name="Rectangle 25"/>
          <p:cNvSpPr/>
          <p:nvPr/>
        </p:nvSpPr>
        <p:spPr>
          <a:xfrm>
            <a:off x="1965960" y="1792224"/>
            <a:ext cx="2103120" cy="283464"/>
          </a:xfrm>
          <a:prstGeom prst="rect">
            <a:avLst/>
          </a:prstGeom>
          <a:solidFill>
            <a:srgbClr val="F5F7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57400" y="1810512"/>
            <a:ext cx="1965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用户账号注册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069080" y="1792224"/>
            <a:ext cx="6400800" cy="283464"/>
          </a:xfrm>
          <a:prstGeom prst="rect">
            <a:avLst/>
          </a:prstGeom>
          <a:solidFill>
            <a:srgbClr val="F5F7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60520" y="1810512"/>
            <a:ext cx="6263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填写用户名/昵称/密码/手机号/邮箱，图形验证码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469880" y="1792224"/>
            <a:ext cx="1143000" cy="283464"/>
          </a:xfrm>
          <a:prstGeom prst="rect">
            <a:avLst/>
          </a:prstGeom>
          <a:solidFill>
            <a:srgbClr val="F5F7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61320" y="181051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许海青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2075688"/>
            <a:ext cx="150876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209397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2E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34" name="Rectangle 33"/>
          <p:cNvSpPr/>
          <p:nvPr/>
        </p:nvSpPr>
        <p:spPr>
          <a:xfrm>
            <a:off x="1965960" y="2075688"/>
            <a:ext cx="210312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057400" y="2093976"/>
            <a:ext cx="1965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修改密码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069080" y="2075688"/>
            <a:ext cx="640080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60520" y="2093976"/>
            <a:ext cx="6263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需原密码确认，不可与原密码一致，成功后跳转登录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469880" y="2075688"/>
            <a:ext cx="114300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61320" y="209397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许海青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2359152"/>
            <a:ext cx="1508760" cy="283464"/>
          </a:xfrm>
          <a:prstGeom prst="rect">
            <a:avLst/>
          </a:prstGeom>
          <a:solidFill>
            <a:srgbClr val="F5F7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237744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2E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42" name="Rectangle 41"/>
          <p:cNvSpPr/>
          <p:nvPr/>
        </p:nvSpPr>
        <p:spPr>
          <a:xfrm>
            <a:off x="1965960" y="2359152"/>
            <a:ext cx="2103120" cy="283464"/>
          </a:xfrm>
          <a:prstGeom prst="rect">
            <a:avLst/>
          </a:prstGeom>
          <a:solidFill>
            <a:srgbClr val="F5F7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057400" y="2377440"/>
            <a:ext cx="1965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找回密码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069080" y="2359152"/>
            <a:ext cx="6400800" cy="283464"/>
          </a:xfrm>
          <a:prstGeom prst="rect">
            <a:avLst/>
          </a:prstGeom>
          <a:solidFill>
            <a:srgbClr val="F5F7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60520" y="2377440"/>
            <a:ext cx="6263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QQ邮箱真实验证码，三步骤分窗（验证→验证码→重置）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469880" y="2359152"/>
            <a:ext cx="1143000" cy="283464"/>
          </a:xfrm>
          <a:prstGeom prst="rect">
            <a:avLst/>
          </a:prstGeom>
          <a:solidFill>
            <a:srgbClr val="F5F7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561320" y="23774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许海青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2642616"/>
            <a:ext cx="150876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" y="266090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用户信息管理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65960" y="2642616"/>
            <a:ext cx="210312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057400" y="2660904"/>
            <a:ext cx="1965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查询账号信息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069080" y="2642616"/>
            <a:ext cx="640080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160520" y="2660904"/>
            <a:ext cx="6263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个人中心展示，密码验证前脱敏显示重要信息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469880" y="2642616"/>
            <a:ext cx="114300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561320" y="266090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许海青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" y="2926080"/>
            <a:ext cx="1508760" cy="283464"/>
          </a:xfrm>
          <a:prstGeom prst="rect">
            <a:avLst/>
          </a:prstGeom>
          <a:solidFill>
            <a:srgbClr val="F5F7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8640" y="294436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2E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58" name="Rectangle 57"/>
          <p:cNvSpPr/>
          <p:nvPr/>
        </p:nvSpPr>
        <p:spPr>
          <a:xfrm>
            <a:off x="1965960" y="2926080"/>
            <a:ext cx="2103120" cy="283464"/>
          </a:xfrm>
          <a:prstGeom prst="rect">
            <a:avLst/>
          </a:prstGeom>
          <a:solidFill>
            <a:srgbClr val="F5F7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057400" y="2944368"/>
            <a:ext cx="1965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修改账号信息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069080" y="2926080"/>
            <a:ext cx="6400800" cy="283464"/>
          </a:xfrm>
          <a:prstGeom prst="rect">
            <a:avLst/>
          </a:prstGeom>
          <a:solidFill>
            <a:srgbClr val="F5F7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160520" y="2944368"/>
            <a:ext cx="6263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修改昵称/手机号/头像，需密码验证后完整修改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469880" y="2926080"/>
            <a:ext cx="1143000" cy="283464"/>
          </a:xfrm>
          <a:prstGeom prst="rect">
            <a:avLst/>
          </a:prstGeom>
          <a:solidFill>
            <a:srgbClr val="F5F7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561320" y="294436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许海青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7200" y="3209544"/>
            <a:ext cx="150876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8640" y="322783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租车服务管理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965960" y="3209544"/>
            <a:ext cx="210312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057400" y="3227832"/>
            <a:ext cx="1965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浏览所有车辆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069080" y="3209544"/>
            <a:ext cx="640080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160520" y="3227832"/>
            <a:ext cx="6263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首页展示车辆图片及状态，猜你想搜+快速排序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469880" y="3209544"/>
            <a:ext cx="114300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561320" y="3227832"/>
            <a:ext cx="1005840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zh-CN"/>
              <a:t>金杭</a:t>
            </a:r>
            <a:endParaRPr lang="zh-CN"/>
          </a:p>
        </p:txBody>
      </p:sp>
      <p:sp>
        <p:nvSpPr>
          <p:cNvPr id="72" name="Rectangle 71"/>
          <p:cNvSpPr/>
          <p:nvPr/>
        </p:nvSpPr>
        <p:spPr>
          <a:xfrm>
            <a:off x="457200" y="3493008"/>
            <a:ext cx="1508760" cy="283464"/>
          </a:xfrm>
          <a:prstGeom prst="rect">
            <a:avLst/>
          </a:prstGeom>
          <a:solidFill>
            <a:srgbClr val="F5F7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48640" y="351129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2E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74" name="Rectangle 73"/>
          <p:cNvSpPr/>
          <p:nvPr/>
        </p:nvSpPr>
        <p:spPr>
          <a:xfrm>
            <a:off x="1965960" y="3493008"/>
            <a:ext cx="2103120" cy="283464"/>
          </a:xfrm>
          <a:prstGeom prst="rect">
            <a:avLst/>
          </a:prstGeom>
          <a:solidFill>
            <a:srgbClr val="F5F7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057400" y="3511296"/>
            <a:ext cx="1965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租赁汽车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069080" y="3493008"/>
            <a:ext cx="6400800" cy="283464"/>
          </a:xfrm>
          <a:prstGeom prst="rect">
            <a:avLst/>
          </a:prstGeom>
          <a:solidFill>
            <a:srgbClr val="F5F7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160520" y="3511296"/>
            <a:ext cx="6263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选择车辆租赁，支持立即/预约，6小时缓冲时间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469880" y="3493008"/>
            <a:ext cx="1143000" cy="283464"/>
          </a:xfrm>
          <a:prstGeom prst="rect">
            <a:avLst/>
          </a:prstGeom>
          <a:solidFill>
            <a:srgbClr val="F5F7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561320" y="3511296"/>
            <a:ext cx="1005840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zh-CN"/>
              <a:t>金杭</a:t>
            </a:r>
            <a:endParaRPr lang="zh-CN"/>
          </a:p>
        </p:txBody>
      </p:sp>
      <p:sp>
        <p:nvSpPr>
          <p:cNvPr id="80" name="Rectangle 79"/>
          <p:cNvSpPr/>
          <p:nvPr/>
        </p:nvSpPr>
        <p:spPr>
          <a:xfrm>
            <a:off x="457200" y="3776472"/>
            <a:ext cx="150876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48640" y="3794759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2E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82" name="Rectangle 81"/>
          <p:cNvSpPr/>
          <p:nvPr/>
        </p:nvSpPr>
        <p:spPr>
          <a:xfrm>
            <a:off x="1965960" y="3776472"/>
            <a:ext cx="210312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057400" y="3794759"/>
            <a:ext cx="1965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归还租赁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069080" y="3776472"/>
            <a:ext cx="640080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160520" y="3794759"/>
            <a:ext cx="6263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用车完成后归还结算，提前归还只退押金需二次确认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469880" y="3776472"/>
            <a:ext cx="114300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0561320" y="3794759"/>
            <a:ext cx="1005840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zh-CN"/>
              <a:t>金杭</a:t>
            </a:r>
            <a:endParaRPr lang="zh-CN"/>
          </a:p>
        </p:txBody>
      </p:sp>
      <p:sp>
        <p:nvSpPr>
          <p:cNvPr id="88" name="Rectangle 87"/>
          <p:cNvSpPr/>
          <p:nvPr/>
        </p:nvSpPr>
        <p:spPr>
          <a:xfrm>
            <a:off x="457200" y="4059935"/>
            <a:ext cx="1508760" cy="283464"/>
          </a:xfrm>
          <a:prstGeom prst="rect">
            <a:avLst/>
          </a:prstGeom>
          <a:solidFill>
            <a:srgbClr val="F5F7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48640" y="4078223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2E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90" name="Rectangle 89"/>
          <p:cNvSpPr/>
          <p:nvPr/>
        </p:nvSpPr>
        <p:spPr>
          <a:xfrm>
            <a:off x="1965960" y="4059935"/>
            <a:ext cx="2103120" cy="283464"/>
          </a:xfrm>
          <a:prstGeom prst="rect">
            <a:avLst/>
          </a:prstGeom>
          <a:solidFill>
            <a:srgbClr val="F5F7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057400" y="4078223"/>
            <a:ext cx="1965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预约租车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069080" y="4059935"/>
            <a:ext cx="6400800" cy="283464"/>
          </a:xfrm>
          <a:prstGeom prst="rect">
            <a:avLst/>
          </a:prstGeom>
          <a:solidFill>
            <a:srgbClr val="F5F7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160520" y="4078223"/>
            <a:ext cx="6263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车辆被占用时可预约，排他性锁定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0469880" y="4059935"/>
            <a:ext cx="1143000" cy="283464"/>
          </a:xfrm>
          <a:prstGeom prst="rect">
            <a:avLst/>
          </a:prstGeom>
          <a:solidFill>
            <a:srgbClr val="F5F7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0561320" y="4078223"/>
            <a:ext cx="1005840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zh-CN"/>
              <a:t>金杭</a:t>
            </a:r>
            <a:endParaRPr lang="zh-CN"/>
          </a:p>
        </p:txBody>
      </p:sp>
      <p:sp>
        <p:nvSpPr>
          <p:cNvPr id="96" name="Rectangle 95"/>
          <p:cNvSpPr/>
          <p:nvPr/>
        </p:nvSpPr>
        <p:spPr>
          <a:xfrm>
            <a:off x="457200" y="4343399"/>
            <a:ext cx="150876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48640" y="4361687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2E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98" name="Rectangle 97"/>
          <p:cNvSpPr/>
          <p:nvPr/>
        </p:nvSpPr>
        <p:spPr>
          <a:xfrm>
            <a:off x="1965960" y="4343399"/>
            <a:ext cx="210312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057400" y="4361687"/>
            <a:ext cx="1965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费用支付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069080" y="4343399"/>
            <a:ext cx="640080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160520" y="4361687"/>
            <a:ext cx="6263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先付押金→取车→归还结算租金，支付交互模拟感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0469880" y="4343399"/>
            <a:ext cx="114300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0561320" y="4361687"/>
            <a:ext cx="1005840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zh-CN"/>
              <a:t>金杭</a:t>
            </a:r>
            <a:endParaRPr lang="zh-CN"/>
          </a:p>
        </p:txBody>
      </p:sp>
      <p:sp>
        <p:nvSpPr>
          <p:cNvPr id="104" name="Rectangle 103"/>
          <p:cNvSpPr/>
          <p:nvPr/>
        </p:nvSpPr>
        <p:spPr>
          <a:xfrm>
            <a:off x="457200" y="4626863"/>
            <a:ext cx="1508760" cy="283464"/>
          </a:xfrm>
          <a:prstGeom prst="rect">
            <a:avLst/>
          </a:prstGeom>
          <a:solidFill>
            <a:srgbClr val="F5F7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548640" y="4645151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2E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106" name="Rectangle 105"/>
          <p:cNvSpPr/>
          <p:nvPr/>
        </p:nvSpPr>
        <p:spPr>
          <a:xfrm>
            <a:off x="1965960" y="4626863"/>
            <a:ext cx="2103120" cy="283464"/>
          </a:xfrm>
          <a:prstGeom prst="rect">
            <a:avLst/>
          </a:prstGeom>
          <a:solidFill>
            <a:srgbClr val="F5F7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2057400" y="4645151"/>
            <a:ext cx="1965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查询汽车信息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069080" y="4626863"/>
            <a:ext cx="6400800" cy="283464"/>
          </a:xfrm>
          <a:prstGeom prst="rect">
            <a:avLst/>
          </a:prstGeom>
          <a:solidFill>
            <a:srgbClr val="F5F7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160520" y="4645151"/>
            <a:ext cx="6263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按品牌搜索查找车辆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0469880" y="4626863"/>
            <a:ext cx="1143000" cy="283464"/>
          </a:xfrm>
          <a:prstGeom prst="rect">
            <a:avLst/>
          </a:prstGeom>
          <a:solidFill>
            <a:srgbClr val="F5F7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0561320" y="4645151"/>
            <a:ext cx="1005840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zh-CN"/>
              <a:t>金杭</a:t>
            </a:r>
            <a:endParaRPr lang="zh-CN"/>
          </a:p>
        </p:txBody>
      </p:sp>
      <p:sp>
        <p:nvSpPr>
          <p:cNvPr id="112" name="Rectangle 111"/>
          <p:cNvSpPr/>
          <p:nvPr/>
        </p:nvSpPr>
        <p:spPr>
          <a:xfrm>
            <a:off x="457200" y="4910327"/>
            <a:ext cx="150876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48640" y="4928615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2E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114" name="Rectangle 113"/>
          <p:cNvSpPr/>
          <p:nvPr/>
        </p:nvSpPr>
        <p:spPr>
          <a:xfrm>
            <a:off x="1965960" y="4910327"/>
            <a:ext cx="210312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2057400" y="4928615"/>
            <a:ext cx="1965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租车信息查询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4069080" y="4910327"/>
            <a:ext cx="640080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4160520" y="4928615"/>
            <a:ext cx="6263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查看个人租车记录，待处理订单提醒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0469880" y="4910327"/>
            <a:ext cx="114300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0561320" y="4928615"/>
            <a:ext cx="1005840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zh-CN"/>
              <a:t>金杭</a:t>
            </a:r>
            <a:endParaRPr lang="zh-CN"/>
          </a:p>
        </p:txBody>
      </p:sp>
      <p:sp>
        <p:nvSpPr>
          <p:cNvPr id="120" name="Rectangle 119"/>
          <p:cNvSpPr/>
          <p:nvPr/>
        </p:nvSpPr>
        <p:spPr>
          <a:xfrm>
            <a:off x="457200" y="5193791"/>
            <a:ext cx="1508760" cy="283464"/>
          </a:xfrm>
          <a:prstGeom prst="rect">
            <a:avLst/>
          </a:prstGeom>
          <a:solidFill>
            <a:srgbClr val="F5F7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548640" y="5212079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2E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122" name="Rectangle 121"/>
          <p:cNvSpPr/>
          <p:nvPr/>
        </p:nvSpPr>
        <p:spPr>
          <a:xfrm>
            <a:off x="1965960" y="5193791"/>
            <a:ext cx="2103120" cy="283464"/>
          </a:xfrm>
          <a:prstGeom prst="rect">
            <a:avLst/>
          </a:prstGeom>
          <a:solidFill>
            <a:srgbClr val="F5F7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057400" y="5212079"/>
            <a:ext cx="1965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订单中心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4069080" y="5193791"/>
            <a:ext cx="6400800" cy="283464"/>
          </a:xfrm>
          <a:prstGeom prst="rect">
            <a:avLst/>
          </a:prstGeom>
          <a:solidFill>
            <a:srgbClr val="F5F7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4160520" y="5212079"/>
            <a:ext cx="6263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展示所有租车订单（在租/完成/取消）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10469880" y="5193791"/>
            <a:ext cx="1143000" cy="283464"/>
          </a:xfrm>
          <a:prstGeom prst="rect">
            <a:avLst/>
          </a:prstGeom>
          <a:solidFill>
            <a:srgbClr val="F5F7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10561320" y="5212079"/>
            <a:ext cx="1005840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lang="zh-CN"/>
              <a:t>金杭</a:t>
            </a:r>
            <a:endParaRPr lang="zh-CN"/>
          </a:p>
        </p:txBody>
      </p:sp>
      <p:sp>
        <p:nvSpPr>
          <p:cNvPr id="128" name="Rectangle 127"/>
          <p:cNvSpPr/>
          <p:nvPr/>
        </p:nvSpPr>
        <p:spPr>
          <a:xfrm>
            <a:off x="457200" y="5477255"/>
            <a:ext cx="150876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548640" y="5495543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AI智能能力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965960" y="5477255"/>
            <a:ext cx="210312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2057400" y="5495543"/>
            <a:ext cx="1965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AI智能选车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4069080" y="5477255"/>
            <a:ext cx="640080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4160520" y="5495543"/>
            <a:ext cx="6263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自然语言需求输入，大模型推荐匹配车型（基础任务）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10469880" y="5477255"/>
            <a:ext cx="114300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10561320" y="5495543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共同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457200" y="5760719"/>
            <a:ext cx="1508760" cy="283464"/>
          </a:xfrm>
          <a:prstGeom prst="rect">
            <a:avLst/>
          </a:prstGeom>
          <a:solidFill>
            <a:srgbClr val="F5F7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548640" y="5779007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2E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138" name="Rectangle 137"/>
          <p:cNvSpPr/>
          <p:nvPr/>
        </p:nvSpPr>
        <p:spPr>
          <a:xfrm>
            <a:off x="1965960" y="5760719"/>
            <a:ext cx="2103120" cy="283464"/>
          </a:xfrm>
          <a:prstGeom prst="rect">
            <a:avLst/>
          </a:prstGeom>
          <a:solidFill>
            <a:srgbClr val="F5F7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2057400" y="5779007"/>
            <a:ext cx="1965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AI维护预测看板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4069080" y="5760719"/>
            <a:ext cx="6400800" cy="283464"/>
          </a:xfrm>
          <a:prstGeom prst="rect">
            <a:avLst/>
          </a:prstGeom>
          <a:solidFill>
            <a:srgbClr val="F5F7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4160520" y="5779007"/>
            <a:ext cx="6263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基于RAG知识库的车辆维护预测与预警（进阶任务）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10469880" y="5760719"/>
            <a:ext cx="1143000" cy="283464"/>
          </a:xfrm>
          <a:prstGeom prst="rect">
            <a:avLst/>
          </a:prstGeom>
          <a:solidFill>
            <a:srgbClr val="F5F7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10561320" y="5779007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共同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457200" y="6044183"/>
            <a:ext cx="150876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548640" y="6062471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2E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146" name="Rectangle 145"/>
          <p:cNvSpPr/>
          <p:nvPr/>
        </p:nvSpPr>
        <p:spPr>
          <a:xfrm>
            <a:off x="1965960" y="6044183"/>
            <a:ext cx="210312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2057400" y="6062471"/>
            <a:ext cx="1965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AI对话助手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4069080" y="6044183"/>
            <a:ext cx="640080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4160520" y="6062471"/>
            <a:ext cx="6263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支持上下文记忆的智能问答，租车与非租车问题分流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10469880" y="6044183"/>
            <a:ext cx="114300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10561320" y="6062471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共同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技术选型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99AA"/>
                </a:solidFill>
                <a:latin typeface="微软雅黑" panose="020B0503020204020204" charset="-122"/>
              </a:defRPr>
            </a:pPr>
            <a:r>
              <a:t>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5/19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914400"/>
            <a:ext cx="2743200" cy="50292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914400"/>
            <a:ext cx="2743200" cy="54864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05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后端技术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45920"/>
            <a:ext cx="2377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60"/>
              </a:spcAft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Spring Boot 3.2.5</a:t>
            </a:r>
          </a:p>
          <a:p>
            <a:pPr algn="l">
              <a:spcAft>
                <a:spcPts val="860"/>
              </a:spcAft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Java 21</a:t>
            </a:r>
          </a:p>
          <a:p>
            <a:pPr algn="l">
              <a:spcAft>
                <a:spcPts val="860"/>
              </a:spcAft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MyBatis-Plus 3.5.5</a:t>
            </a:r>
          </a:p>
          <a:p>
            <a:pPr algn="l">
              <a:spcAft>
                <a:spcPts val="860"/>
              </a:spcAft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JWT 令牌认证</a:t>
            </a:r>
          </a:p>
          <a:p>
            <a:pPr algn="l">
              <a:spcAft>
                <a:spcPts val="860"/>
              </a:spcAft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BCrypt 密码加密</a:t>
            </a:r>
          </a:p>
          <a:p>
            <a:pPr algn="l">
              <a:spcAft>
                <a:spcPts val="860"/>
              </a:spcAft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OkHttp (AI API调用)</a:t>
            </a:r>
          </a:p>
          <a:p>
            <a:pPr algn="l">
              <a:spcAft>
                <a:spcPts val="860"/>
              </a:spcAft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Spring Mail (邮箱服务)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914400"/>
            <a:ext cx="2743200" cy="50292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37560" y="914400"/>
            <a:ext cx="2743200" cy="548640"/>
          </a:xfrm>
          <a:prstGeom prst="roundRect">
            <a:avLst/>
          </a:prstGeom>
          <a:solidFill>
            <a:srgbClr val="162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1005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前端技术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1645920"/>
            <a:ext cx="2377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60"/>
              </a:spcAft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Vue 3.4 (Composition API)</a:t>
            </a:r>
          </a:p>
          <a:p>
            <a:pPr algn="l">
              <a:spcAft>
                <a:spcPts val="860"/>
              </a:spcAft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Vue Router 4 (路由管理)</a:t>
            </a:r>
          </a:p>
          <a:p>
            <a:pPr algn="l">
              <a:spcAft>
                <a:spcPts val="860"/>
              </a:spcAft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Element Plus (UI组件库)</a:t>
            </a:r>
          </a:p>
          <a:p>
            <a:pPr algn="l">
              <a:spcAft>
                <a:spcPts val="860"/>
              </a:spcAft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Axios (HTTP请求)</a:t>
            </a:r>
          </a:p>
          <a:p>
            <a:pPr algn="l">
              <a:spcAft>
                <a:spcPts val="860"/>
              </a:spcAft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Vite 5 (构建工具)</a:t>
            </a:r>
          </a:p>
          <a:p>
            <a:pPr algn="l">
              <a:spcAft>
                <a:spcPts val="860"/>
              </a:spcAft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JavaScript + SCSS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914400"/>
            <a:ext cx="2743200" cy="50292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17920" y="914400"/>
            <a:ext cx="2743200" cy="548640"/>
          </a:xfrm>
          <a:prstGeom prst="roundRect">
            <a:avLst/>
          </a:prstGeom>
          <a:solidFill>
            <a:srgbClr val="0D9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005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数据与存储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645920"/>
            <a:ext cx="2377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60"/>
              </a:spcAft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MySQL 8.0 (关系型数据库)</a:t>
            </a:r>
          </a:p>
          <a:p>
            <a:pPr algn="l">
              <a:spcAft>
                <a:spcPts val="860"/>
              </a:spcAft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6张核心业务表</a:t>
            </a:r>
          </a:p>
          <a:p>
            <a:pPr algn="l">
              <a:spcAft>
                <a:spcPts val="860"/>
              </a:spcAft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InnoDB 引擎 + utf8mb4</a:t>
            </a:r>
          </a:p>
          <a:p>
            <a:pPr algn="l">
              <a:spcAft>
                <a:spcPts val="860"/>
              </a:spcAft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索引优化查询性能</a:t>
            </a:r>
          </a:p>
          <a:p>
            <a:pPr algn="l">
              <a:spcAft>
                <a:spcPts val="860"/>
              </a:spcAft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Base64 图片存储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0" y="914400"/>
            <a:ext cx="2743200" cy="50292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098280" y="914400"/>
            <a:ext cx="2743200" cy="548640"/>
          </a:xfrm>
          <a:prstGeom prst="round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98280" y="1005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AI与智能化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1645920"/>
            <a:ext cx="2377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60"/>
              </a:spcAft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DeepSeek API (大模型)</a:t>
            </a:r>
          </a:p>
          <a:p>
            <a:pPr algn="l">
              <a:spcAft>
                <a:spcPts val="860"/>
              </a:spcAft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OpenAI兼容接口协议</a:t>
            </a:r>
          </a:p>
          <a:p>
            <a:pPr algn="l">
              <a:spcAft>
                <a:spcPts val="860"/>
              </a:spcAft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RAG 检索增强生成</a:t>
            </a:r>
          </a:p>
          <a:p>
            <a:pPr algn="l">
              <a:spcAft>
                <a:spcPts val="860"/>
              </a:spcAft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文本向量化 + 余弦相似度</a:t>
            </a:r>
          </a:p>
          <a:p>
            <a:pPr algn="l">
              <a:spcAft>
                <a:spcPts val="860"/>
              </a:spcAft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本地降级策略 (无API可用)</a:t>
            </a:r>
          </a:p>
          <a:p>
            <a:pPr algn="l">
              <a:spcAft>
                <a:spcPts val="860"/>
              </a:spcAft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定时任务知识库更新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系统架构设计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99AA"/>
                </a:solidFill>
                <a:latin typeface="微软雅黑" panose="020B0503020204020204" charset="-122"/>
              </a:defRPr>
            </a:pPr>
            <a:r>
              <a:t>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6/19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22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前后端分离架构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10515600" cy="100584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137160" cy="100584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前端展示层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737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Vue 3 SPA · Element Plus · Vue Router · Axios HTTP · AI对话组件 · 维护看板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5760720" y="2240280"/>
            <a:ext cx="365760" cy="274320"/>
          </a:xfrm>
          <a:prstGeom prst="downArrow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2468880"/>
            <a:ext cx="10515600" cy="100584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2468880"/>
            <a:ext cx="137160" cy="1005840"/>
          </a:xfrm>
          <a:prstGeom prst="roundRect">
            <a:avLst/>
          </a:prstGeom>
          <a:solidFill>
            <a:srgbClr val="162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2560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621E3"/>
                </a:solidFill>
                <a:latin typeface="微软雅黑" panose="020B0503020204020204" charset="-122"/>
              </a:defRPr>
            </a:pPr>
            <a:r>
              <a:t>API接口层 (RESTful + JWT)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926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用户认证拦截器 · 权限校验 · 统一响应封装 · 参数校验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5760720" y="3429000"/>
            <a:ext cx="365760" cy="274320"/>
          </a:xfrm>
          <a:prstGeom prst="downArrow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" y="3657600"/>
            <a:ext cx="10515600" cy="100584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1520" y="3657600"/>
            <a:ext cx="137160" cy="1005840"/>
          </a:xfrm>
          <a:prstGeom prst="roundRect">
            <a:avLst/>
          </a:prstGeom>
          <a:solidFill>
            <a:srgbClr val="0D9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749039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9D8E"/>
                </a:solidFill>
                <a:latin typeface="微软雅黑" panose="020B0503020204020204" charset="-122"/>
              </a:defRPr>
            </a:pPr>
            <a:r>
              <a:t>业务逻辑层 (Service)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UserService · CarService · OrderService · AIService · RAGService · EmailService · DriverService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5760720" y="4617720"/>
            <a:ext cx="365760" cy="274320"/>
          </a:xfrm>
          <a:prstGeom prst="downArrow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1520" y="4846320"/>
            <a:ext cx="10515600" cy="100584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1520" y="4846320"/>
            <a:ext cx="137160" cy="1005840"/>
          </a:xfrm>
          <a:prstGeom prst="round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4937759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6A17"/>
                </a:solidFill>
                <a:latin typeface="微软雅黑" panose="020B0503020204020204" charset="-122"/>
              </a:defRPr>
            </a:pPr>
            <a:r>
              <a:t>数据持久层 (MyBatis-Plus)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MySQL 8.0 · 6张业务表 · AI知识库(内存) · 外部API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数据库设计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99AA"/>
                </a:solidFill>
                <a:latin typeface="微软雅黑" panose="020B0503020204020204" charset="-122"/>
              </a:defRPr>
            </a:pPr>
            <a:r>
              <a:t>DATABASE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7/19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22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6张核心数据表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5486400" cy="1508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188720"/>
            <a:ext cx="5486400" cy="36576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34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users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2344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用户表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64592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id, username, password, nickname, phone, email, avatar(base64), role(0/1), create_time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2402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存储用户账号信息，role区分普通用户与管理员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188720"/>
            <a:ext cx="5486400" cy="1508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09360" y="1188720"/>
            <a:ext cx="5486400" cy="365760"/>
          </a:xfrm>
          <a:prstGeom prst="roundRect">
            <a:avLst/>
          </a:prstGeom>
          <a:solidFill>
            <a:srgbClr val="162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234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cars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12344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车辆表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164592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id, brand, model, color, seats, price_per_day, deposit, status(空闲/已租/预约/维护), mileage, category, usage_type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2402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621E3"/>
                </a:solidFill>
                <a:latin typeface="微软雅黑" panose="020B0503020204020204" charset="-122"/>
              </a:defRPr>
            </a:pPr>
            <a:r>
              <a:t>35辆车，覆盖经济/家庭/商务/婚庆/新能源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2880360"/>
            <a:ext cx="5486400" cy="1508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7200" y="2880360"/>
            <a:ext cx="5486400" cy="365760"/>
          </a:xfrm>
          <a:prstGeom prst="roundRect">
            <a:avLst/>
          </a:prstGeom>
          <a:solidFill>
            <a:srgbClr val="0D9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2926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orders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9260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订单表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33756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id, order_no, user_id, car_id, start_time, end_time, total_cost, status(6种), deposit, rating, mileage_driven, discount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39319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D9D8E"/>
                </a:solidFill>
                <a:latin typeface="微软雅黑" panose="020B0503020204020204" charset="-122"/>
              </a:defRPr>
            </a:pPr>
            <a:r>
              <a:t>核心交易表，含押金/租金/优惠/评价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2880360"/>
            <a:ext cx="5486400" cy="1508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309360" y="2880360"/>
            <a:ext cx="5486400" cy="365760"/>
          </a:xfrm>
          <a:prstGeom prst="round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2926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maintenance_records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9760" y="29260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维护记录表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333756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id, car_id, mileage_at_maint, maintenance_type, description, cost, maintenance_date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39319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86A17"/>
                </a:solidFill>
                <a:latin typeface="微软雅黑" panose="020B0503020204020204" charset="-122"/>
              </a:defRPr>
            </a:pPr>
            <a:r>
              <a:t>车辆保养维修历史，供RAG向量化检索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4572000"/>
            <a:ext cx="5486400" cy="1508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57200" y="4572000"/>
            <a:ext cx="5486400" cy="36576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4617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drivers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0" y="46177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司机表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502920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id, name, phone, id_card, license_type, experience_years, status(空闲/服务/休假/离职), rating, service_count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56235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可选带司机服务，10位司机信息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09360" y="4572000"/>
            <a:ext cx="5486400" cy="1508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309360" y="4572000"/>
            <a:ext cx="5486400" cy="365760"/>
          </a:xfrm>
          <a:prstGeom prst="round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46520" y="4617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verification_codes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09760" y="46177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验证码表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46520" y="502920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id, user_id, email, code, used(0/1), create_time, expire_time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56235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4A017"/>
                </a:solidFill>
                <a:latin typeface="微软雅黑" panose="020B0503020204020204" charset="-122"/>
              </a:defRPr>
            </a:pPr>
            <a:r>
              <a:t>邮箱找回密码验证码，含过期机制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功能实现 — 登录/注册模块 [</a:t>
            </a:r>
            <a:r>
              <a:rPr lang="zh-CN"/>
              <a:t>许海青</a:t>
            </a:r>
            <a:r>
              <a:t>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99AA"/>
                </a:solidFill>
                <a:latin typeface="微软雅黑" panose="020B0503020204020204" charset="-122"/>
              </a:defRPr>
            </a:pPr>
            <a:r>
              <a:t>USER AUTHENTICATION — 许海青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8/19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914400"/>
            <a:ext cx="5486400" cy="24231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914400"/>
            <a:ext cx="548640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960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1. 用户登录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5"/>
              </a:spcAft>
              <a:defRPr sz="9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账号 + 密码登录，密码可视/不可视切换</a:t>
            </a:r>
          </a:p>
          <a:p>
            <a:pPr algn="l">
              <a:spcAft>
                <a:spcPts val="485"/>
              </a:spcAft>
              <a:defRPr sz="9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JWT令牌认证 + BCrypt密码加密</a:t>
            </a:r>
          </a:p>
          <a:p>
            <a:pPr algn="l">
              <a:spcAft>
                <a:spcPts val="485"/>
              </a:spcAft>
              <a:defRPr sz="9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登录失败5次→账号冻结（递增20s~100s）</a:t>
            </a:r>
          </a:p>
          <a:p>
            <a:pPr algn="l">
              <a:spcAft>
                <a:spcPts val="485"/>
              </a:spcAft>
              <a:defRPr sz="9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localStorage持久化锁定，刷新不重置</a:t>
            </a:r>
          </a:p>
          <a:p>
            <a:pPr algn="l">
              <a:spcAft>
                <a:spcPts val="485"/>
              </a:spcAft>
              <a:defRPr sz="9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登录成功→欢迎弹窗1-2s渐变消失</a:t>
            </a:r>
          </a:p>
          <a:p>
            <a:pPr algn="l">
              <a:spcAft>
                <a:spcPts val="485"/>
              </a:spcAft>
              <a:defRPr sz="9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滚动广告展示 + 登录欢迎提示语</a:t>
            </a:r>
          </a:p>
          <a:p>
            <a:pPr algn="l">
              <a:spcAft>
                <a:spcPts val="485"/>
              </a:spcAft>
              <a:defRPr sz="9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点击头像→退出登录确认弹窗，防误触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914400"/>
            <a:ext cx="5486400" cy="24231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09360" y="914400"/>
            <a:ext cx="5486400" cy="411480"/>
          </a:xfrm>
          <a:prstGeom prst="roundRect">
            <a:avLst/>
          </a:prstGeom>
          <a:solidFill>
            <a:srgbClr val="162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960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2. 账号注册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4173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5"/>
              </a:spcAft>
              <a:defRPr sz="9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用户名唯一性校验（失焦查重）</a:t>
            </a:r>
          </a:p>
          <a:p>
            <a:pPr algn="l">
              <a:spcAft>
                <a:spcPts val="485"/>
              </a:spcAft>
              <a:defRPr sz="9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密码强度三等级（低不可注册，中弹警告）</a:t>
            </a:r>
          </a:p>
          <a:p>
            <a:pPr algn="l">
              <a:spcAft>
                <a:spcPts val="485"/>
              </a:spcAft>
              <a:defRPr sz="9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两次密码不一致提示</a:t>
            </a:r>
          </a:p>
          <a:p>
            <a:pPr algn="l">
              <a:spcAft>
                <a:spcPts val="485"/>
              </a:spcAft>
              <a:defRPr sz="9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手机号11位限制 + 实时去空格</a:t>
            </a:r>
          </a:p>
          <a:p>
            <a:pPr algn="l">
              <a:spcAft>
                <a:spcPts val="485"/>
              </a:spcAft>
              <a:defRPr sz="9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邮箱实时去空格 + 格式校验</a:t>
            </a:r>
          </a:p>
          <a:p>
            <a:pPr algn="l">
              <a:spcAft>
                <a:spcPts val="485"/>
              </a:spcAft>
              <a:defRPr sz="9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图形验证码（三选一找相同）</a:t>
            </a:r>
          </a:p>
          <a:p>
            <a:pPr algn="l">
              <a:spcAft>
                <a:spcPts val="485"/>
              </a:spcAft>
              <a:defRPr sz="9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注册初始空白，点击后自动填入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566160"/>
            <a:ext cx="5486400" cy="24231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" y="3566160"/>
            <a:ext cx="5486400" cy="411480"/>
          </a:xfrm>
          <a:prstGeom prst="roundRect">
            <a:avLst/>
          </a:prstGeom>
          <a:solidFill>
            <a:srgbClr val="0D9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611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3. 修改密码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06908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5"/>
              </a:spcAft>
              <a:defRPr sz="9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需原密码确认权限，否则只能找回密码</a:t>
            </a:r>
          </a:p>
          <a:p>
            <a:pPr algn="l">
              <a:spcAft>
                <a:spcPts val="485"/>
              </a:spcAft>
              <a:defRPr sz="9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新密码二次确认</a:t>
            </a:r>
          </a:p>
          <a:p>
            <a:pPr algn="l">
              <a:spcAft>
                <a:spcPts val="485"/>
              </a:spcAft>
              <a:defRPr sz="9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不可与原密码一致（确认后判断弹出）</a:t>
            </a:r>
          </a:p>
          <a:p>
            <a:pPr algn="l">
              <a:spcAft>
                <a:spcPts val="485"/>
              </a:spcAft>
              <a:defRPr sz="9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强度提示逻辑同注册时一致</a:t>
            </a:r>
          </a:p>
          <a:p>
            <a:pPr algn="l">
              <a:spcAft>
                <a:spcPts val="485"/>
              </a:spcAft>
              <a:defRPr sz="9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修改成功→跳转登录界面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3566160"/>
            <a:ext cx="5486400" cy="24231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09360" y="3566160"/>
            <a:ext cx="5486400" cy="411480"/>
          </a:xfrm>
          <a:prstGeom prst="round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611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4. 找回密码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06908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5"/>
              </a:spcAft>
              <a:defRPr sz="9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验证用户名+对应正确邮箱</a:t>
            </a:r>
          </a:p>
          <a:p>
            <a:pPr algn="l">
              <a:spcAft>
                <a:spcPts val="485"/>
              </a:spcAft>
              <a:defRPr sz="9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QQ邮箱SMTP发送6位验证码</a:t>
            </a:r>
          </a:p>
          <a:p>
            <a:pPr algn="l">
              <a:spcAft>
                <a:spcPts val="485"/>
              </a:spcAft>
              <a:defRPr sz="9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三步骤分窗：身份验证→验证码→重置密码</a:t>
            </a:r>
          </a:p>
          <a:p>
            <a:pPr algn="l">
              <a:spcAft>
                <a:spcPts val="485"/>
              </a:spcAft>
              <a:defRPr sz="9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重置密码强度提示，不可与原密码重复</a:t>
            </a:r>
          </a:p>
          <a:p>
            <a:pPr algn="l">
              <a:spcAft>
                <a:spcPts val="485"/>
              </a:spcAft>
              <a:defRPr sz="9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验证码5分钟有效期，一次性使用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邮箱验证码找回密码 [用户模块衍生]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99AA"/>
                </a:solidFill>
                <a:latin typeface="微软雅黑" panose="020B0503020204020204" charset="-122"/>
              </a:defRPr>
            </a:pPr>
            <a:r>
              <a:t>QQ E-MAIL VERIFICATION — 许海青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9/19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QQ邮箱 SMTP 真实邮件发送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63040"/>
            <a:ext cx="2560320" cy="13716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463040"/>
            <a:ext cx="2560320" cy="411480"/>
          </a:xfrm>
          <a:prstGeom prst="roundRect">
            <a:avLst/>
          </a:prstGeom>
          <a:solidFill>
            <a:srgbClr val="162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5087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1.身份验证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9659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用户输入</a:t>
            </a:r>
          </a:p>
          <a:p>
            <a:pPr algn="l">
              <a:spcAft>
                <a:spcPts val="5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用户名+注册邮箱</a:t>
            </a:r>
          </a:p>
          <a:p>
            <a:pPr algn="l">
              <a:spcAft>
                <a:spcPts val="5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验证身份匹配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035808" y="1965960"/>
            <a:ext cx="201168" cy="274320"/>
          </a:xfrm>
          <a:prstGeom prst="rightArrow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246120" y="1463040"/>
            <a:ext cx="2560320" cy="13716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246120" y="1463040"/>
            <a:ext cx="256032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46120" y="15087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2.发送验证码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19659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EmailService</a:t>
            </a:r>
          </a:p>
          <a:p>
            <a:pPr algn="l">
              <a:spcAft>
                <a:spcPts val="5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QQ SMTP发件</a:t>
            </a:r>
          </a:p>
          <a:p>
            <a:pPr algn="l">
              <a:spcAft>
                <a:spcPts val="5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HTML模板邮件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824728" y="1965960"/>
            <a:ext cx="201168" cy="274320"/>
          </a:xfrm>
          <a:prstGeom prst="rightArrow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035040" y="1463040"/>
            <a:ext cx="2560320" cy="13716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035040" y="1463040"/>
            <a:ext cx="2560320" cy="411480"/>
          </a:xfrm>
          <a:prstGeom prst="round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40" y="15087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3.用户查收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19659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登录QQ邮箱</a:t>
            </a:r>
          </a:p>
          <a:p>
            <a:pPr algn="l">
              <a:spcAft>
                <a:spcPts val="5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查看收件箱</a:t>
            </a:r>
          </a:p>
          <a:p>
            <a:pPr algn="l">
              <a:spcAft>
                <a:spcPts val="5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获取6位验证码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613648" y="1965960"/>
            <a:ext cx="201168" cy="274320"/>
          </a:xfrm>
          <a:prstGeom prst="rightArrow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823960" y="1463040"/>
            <a:ext cx="2560320" cy="13716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823960" y="1463040"/>
            <a:ext cx="2560320" cy="41148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23960" y="15087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4.验证重置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19659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输入验证码</a:t>
            </a:r>
          </a:p>
          <a:p>
            <a:pPr algn="l">
              <a:spcAft>
                <a:spcPts val="5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校验有效期5分钟</a:t>
            </a:r>
          </a:p>
          <a:p>
            <a:pPr algn="l">
              <a:spcAft>
                <a:spcPts val="5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成功→重置密码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108960"/>
            <a:ext cx="5303520" cy="1188720"/>
          </a:xfrm>
          <a:prstGeom prst="roundRect">
            <a:avLst/>
          </a:prstGeom>
          <a:solidFill>
            <a:srgbClr val="FD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3200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6A17"/>
                </a:solidFill>
                <a:latin typeface="微软雅黑" panose="020B0503020204020204" charset="-122"/>
              </a:defRPr>
            </a:pPr>
            <a:r>
              <a:t>SMTP配置参数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352044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SMTP服务器：smtp.qq.com，端口 465（SSL）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认证方式：QQ邮箱授权码（非登录密码），安全可靠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发件人名称：御途租车（UTF-8编码，支持中文）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邮件主题：【御途租车】密码重置验证码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480560"/>
            <a:ext cx="5303520" cy="155448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572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安全防刷机制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89204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1分钟内限发1次：防连续刷验证码</a:t>
            </a: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1小时内限发5次：防止暴力遍历</a:t>
            </a: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验证码5分钟有效期：过期自动失效</a:t>
            </a: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验证码一次性使用：使用后标记used=1</a:t>
            </a: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密码重置后清理该用户所有未使用验证码</a:t>
            </a: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重置密码不可与原密码重复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914400"/>
            <a:ext cx="5303520" cy="512064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1051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三步骤分窗设计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146304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步骤一：身份验证</a:t>
            </a:r>
          </a:p>
          <a:p>
            <a:pPr algn="l">
              <a:spcAft>
                <a:spcPts val="5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├─ 输入用户名 + 注册邮箱</a:t>
            </a:r>
          </a:p>
          <a:p>
            <a:pPr algn="l">
              <a:spcAft>
                <a:spcPts val="5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├─ 后端校验用户名与邮箱是否匹配</a:t>
            </a:r>
          </a:p>
          <a:p>
            <a:pPr algn="l">
              <a:spcAft>
                <a:spcPts val="5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└─ 匹配成功→进入步骤二</a:t>
            </a:r>
          </a:p>
          <a:p>
            <a:pPr algn="l">
              <a:spcAft>
                <a:spcPts val="5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5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步骤二：验证码</a:t>
            </a:r>
          </a:p>
          <a:p>
            <a:pPr algn="l">
              <a:spcAft>
                <a:spcPts val="5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├─ 系统通过QQ邮箱发送6位验证码</a:t>
            </a:r>
          </a:p>
          <a:p>
            <a:pPr algn="l">
              <a:spcAft>
                <a:spcPts val="5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├─ 用户在邮箱中查收验证码</a:t>
            </a:r>
          </a:p>
          <a:p>
            <a:pPr algn="l">
              <a:spcAft>
                <a:spcPts val="5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├─ 输入验证码，校验有效期</a:t>
            </a:r>
          </a:p>
          <a:p>
            <a:pPr algn="l">
              <a:spcAft>
                <a:spcPts val="5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└─ 验证通过→进入步骤三</a:t>
            </a:r>
          </a:p>
          <a:p>
            <a:pPr algn="l">
              <a:spcAft>
                <a:spcPts val="5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5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步骤三：重置密码</a:t>
            </a:r>
          </a:p>
          <a:p>
            <a:pPr algn="l">
              <a:spcAft>
                <a:spcPts val="5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├─ 设置新密码（强度提示同注册）</a:t>
            </a:r>
          </a:p>
          <a:p>
            <a:pPr algn="l">
              <a:spcAft>
                <a:spcPts val="5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├─ 不可与原密码重复判断</a:t>
            </a:r>
          </a:p>
          <a:p>
            <a:pPr algn="l">
              <a:spcAft>
                <a:spcPts val="5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├─ 确认新密码</a:t>
            </a:r>
          </a:p>
          <a:p>
            <a:pPr algn="l">
              <a:spcAft>
                <a:spcPts val="5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└─ 重置成功→跳转登录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5760720"/>
            <a:ext cx="5303520" cy="4572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17920" y="58064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真实QQ邮箱SMTP服务，非模拟，完整邮件收发流程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注册安全机制 [用户模块衍生]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99AA"/>
                </a:solidFill>
                <a:latin typeface="微软雅黑" panose="020B0503020204020204" charset="-122"/>
              </a:defRPr>
            </a:pPr>
            <a:r>
              <a:t>REGISTRATION SECURITY — 许海青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10/19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914400"/>
            <a:ext cx="5486400" cy="237744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0058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实时去空格 — 前端输入过滤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1732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5"/>
              </a:spcAft>
              <a:defRPr sz="9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手机号输入：@input 事件绑定 .replace(/\s/g, '')</a:t>
            </a:r>
          </a:p>
          <a:p>
            <a:pPr algn="l">
              <a:spcAft>
                <a:spcPts val="485"/>
              </a:spcAft>
              <a:defRPr sz="9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├─ 用户输入手机号时实时移除所有空格字符</a:t>
            </a:r>
          </a:p>
          <a:p>
            <a:pPr algn="l">
              <a:spcAft>
                <a:spcPts val="485"/>
              </a:spcAft>
              <a:defRPr sz="9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├─ 手机号字段限制 maxlength='11'</a:t>
            </a:r>
          </a:p>
          <a:p>
            <a:pPr algn="l">
              <a:spcAft>
                <a:spcPts val="485"/>
              </a:spcAft>
              <a:defRPr sz="9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├─ 失焦时正则校验 /^1[3-9]\d{9}$/</a:t>
            </a:r>
          </a:p>
          <a:p>
            <a:pPr algn="l">
              <a:spcAft>
                <a:spcPts val="485"/>
              </a:spcAft>
              <a:defRPr sz="9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└─ 仅匹配中国大陆手机号段，防止虚假号码</a:t>
            </a:r>
          </a:p>
          <a:p>
            <a:pPr algn="l">
              <a:spcAft>
                <a:spcPts val="485"/>
              </a:spcAft>
              <a:defRPr sz="950" b="0">
                <a:solidFill>
                  <a:srgbClr val="2D2D2D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485"/>
              </a:spcAft>
              <a:defRPr sz="9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邮箱输入：@input 事件绑定 .replace(/\s/g, '')</a:t>
            </a:r>
          </a:p>
          <a:p>
            <a:pPr algn="l">
              <a:spcAft>
                <a:spcPts val="485"/>
              </a:spcAft>
              <a:defRPr sz="9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├─ 用户输入邮箱时实时移除所有空格字符</a:t>
            </a:r>
          </a:p>
          <a:p>
            <a:pPr algn="l">
              <a:spcAft>
                <a:spcPts val="485"/>
              </a:spcAft>
              <a:defRPr sz="9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└─ 失焦时正则校验标准邮箱格式</a:t>
            </a:r>
          </a:p>
          <a:p>
            <a:pPr algn="l">
              <a:spcAft>
                <a:spcPts val="485"/>
              </a:spcAft>
              <a:defRPr sz="950" b="0">
                <a:solidFill>
                  <a:srgbClr val="2D2D2D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485"/>
              </a:spcAft>
              <a:defRPr sz="9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提交前全字段 trim()：handleRegister() 中</a:t>
            </a:r>
          </a:p>
          <a:p>
            <a:pPr algn="l">
              <a:spcAft>
                <a:spcPts val="485"/>
              </a:spcAft>
              <a:defRPr sz="9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├─ username/nickname/password/phone/email 全部 .trim()</a:t>
            </a:r>
          </a:p>
          <a:p>
            <a:pPr algn="l">
              <a:spcAft>
                <a:spcPts val="485"/>
              </a:spcAft>
              <a:defRPr sz="9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└─ 防止首尾空格导致后端校验失败或恶意绕过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474720"/>
            <a:ext cx="5486400" cy="822960"/>
          </a:xfrm>
          <a:prstGeom prst="roundRect">
            <a:avLst/>
          </a:prstGeom>
          <a:solidFill>
            <a:srgbClr val="FD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5661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6A17"/>
                </a:solidFill>
                <a:latin typeface="微软雅黑" panose="020B0503020204020204" charset="-122"/>
              </a:defRPr>
            </a:pPr>
            <a:r>
              <a:t>前端空格校验规则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886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5"/>
              </a:spcAft>
              <a:defRPr sz="9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用户名/昵称 → 检测是否包含空格，有则提示</a:t>
            </a:r>
          </a:p>
          <a:p>
            <a:pPr algn="l">
              <a:spcAft>
                <a:spcPts val="485"/>
              </a:spcAft>
              <a:defRPr sz="9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密码 → 正则 /\s/.test() 检测，提示"密码不能包含空格"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480560"/>
            <a:ext cx="5486400" cy="16459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5720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去空格的安全价值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89204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30"/>
              </a:spcAft>
              <a:defRPr sz="9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1. 防绕过：防止空格分隔字符绕过长度/格式校验</a:t>
            </a:r>
          </a:p>
          <a:p>
            <a:pPr algn="l">
              <a:spcAft>
                <a:spcPts val="530"/>
              </a:spcAft>
              <a:defRPr sz="9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2. 数据一致：提交前统一处理，数据库无脏数据</a:t>
            </a:r>
          </a:p>
          <a:p>
            <a:pPr algn="l">
              <a:spcAft>
                <a:spcPts val="530"/>
              </a:spcAft>
              <a:defRPr sz="9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3. 用户体验：实时移除无需手动删除，无感知</a:t>
            </a:r>
          </a:p>
          <a:p>
            <a:pPr algn="l">
              <a:spcAft>
                <a:spcPts val="530"/>
              </a:spcAft>
              <a:defRPr sz="9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4. 双重保障：实时@input + 提交前trim()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914400"/>
            <a:ext cx="5486400" cy="52120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0058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6A17"/>
                </a:solidFill>
                <a:latin typeface="微软雅黑" panose="020B0503020204020204" charset="-122"/>
              </a:defRPr>
            </a:pPr>
            <a:r>
              <a:t>图形验证码人机验证（三选一找相同）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1417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验证流程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173736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80"/>
              </a:spcAft>
              <a:defRPr sz="9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① 用户填写完所有字段 → 点击"注册"按钮</a:t>
            </a:r>
          </a:p>
          <a:p>
            <a:pPr algn="l">
              <a:spcAft>
                <a:spcPts val="580"/>
              </a:spcAft>
              <a:defRPr sz="9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② 前端校验通过 → 弹出图形验证码对话框</a:t>
            </a:r>
          </a:p>
          <a:p>
            <a:pPr algn="l">
              <a:spcAft>
                <a:spcPts val="580"/>
              </a:spcAft>
              <a:defRPr sz="9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③ 系统随机从8种图标中选3个展示</a:t>
            </a:r>
          </a:p>
          <a:p>
            <a:pPr algn="l">
              <a:spcAft>
                <a:spcPts val="580"/>
              </a:spcAft>
              <a:defRPr sz="9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④ 随机指定一个目标图标，提示"请点击XX"</a:t>
            </a:r>
          </a:p>
          <a:p>
            <a:pPr algn="l">
              <a:spcAft>
                <a:spcPts val="580"/>
              </a:spcAft>
              <a:defRPr sz="9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⑤ 用户点击正确图标 → 验证通过，自动提交注册</a:t>
            </a:r>
          </a:p>
          <a:p>
            <a:pPr algn="l">
              <a:spcAft>
                <a:spcPts val="580"/>
              </a:spcAft>
              <a:defRPr sz="9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⑥ 点击错误图标 → 图标抖动动效，1秒后刷新重试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1546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图标池（8种随机选取3种）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4747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5"/>
              </a:spcAft>
              <a:defRPr sz="9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汽车 / 盾牌 / 钥匙 / 星星</a:t>
            </a:r>
          </a:p>
          <a:p>
            <a:pPr algn="l">
              <a:spcAft>
                <a:spcPts val="485"/>
              </a:spcAft>
              <a:defRPr sz="9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爱心 / 钻石 / 树木 / 太阳</a:t>
            </a:r>
          </a:p>
          <a:p>
            <a:pPr algn="l">
              <a:spcAft>
                <a:spcPts val="485"/>
              </a:spcAft>
              <a:defRPr sz="950" b="0">
                <a:solidFill>
                  <a:srgbClr val="2D2D2D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485"/>
              </a:spcAft>
              <a:defRPr sz="9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每次随机选3个展示 + 随机指定1个目标</a:t>
            </a:r>
          </a:p>
          <a:p>
            <a:pPr algn="l">
              <a:spcAft>
                <a:spcPts val="485"/>
              </a:spcAft>
              <a:defRPr sz="9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→ 组合数 C(8,3)×3 = 168 种可能，难以暴力猜测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5262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交互与UI细节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8463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5"/>
              </a:spcAft>
              <a:defRPr sz="9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正确 → 图标变绿 + "验证通过" + 自动提交</a:t>
            </a:r>
          </a:p>
          <a:p>
            <a:pPr algn="l">
              <a:spcAft>
                <a:spcPts val="485"/>
              </a:spcAft>
              <a:defRPr sz="9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错误 → 图标变红 + shake抖动动效 + 自动刷新</a:t>
            </a:r>
          </a:p>
          <a:p>
            <a:pPr algn="l">
              <a:spcAft>
                <a:spcPts val="485"/>
              </a:spcAft>
              <a:defRPr sz="9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对话框模式打开，禁止点击空白关闭</a:t>
            </a:r>
          </a:p>
          <a:p>
            <a:pPr algn="l">
              <a:spcAft>
                <a:spcPts val="485"/>
              </a:spcAft>
              <a:defRPr sz="9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密码强度中等时先弹确认框，再弹验证码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5715000"/>
            <a:ext cx="5486400" cy="411480"/>
          </a:xfrm>
          <a:prstGeom prst="round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57607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纯前端实现 · SVG内嵌图形 · 无需第三方验证服务 · 有效防机器注册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用户信息管理 [</a:t>
            </a:r>
            <a:r>
              <a:rPr lang="zh-CN"/>
              <a:t>许海青</a:t>
            </a:r>
            <a:r>
              <a:t>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99AA"/>
                </a:solidFill>
                <a:latin typeface="微软雅黑" panose="020B0503020204020204" charset="-122"/>
              </a:defRPr>
            </a:pPr>
            <a:r>
              <a:t>USER PROFILE MANAGEMENT — 许海青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11/19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914400"/>
            <a:ext cx="5486400" cy="256032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0058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用户查询账号信息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17320"/>
            <a:ext cx="5029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点击头像进入个人中心页面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展示账号信息：头像、昵称、手机号、邮箱等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头像以图片形式可以上传并修改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6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脱敏显示机制（密码验证前）：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├─ 重要信息只显示不完全信息（如手机号 138****8888）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├─ 用户无法看到完整敏感数据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└─ 需密码验证后才能查看完整信息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657600"/>
            <a:ext cx="5486400" cy="2911475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74903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621E3"/>
                </a:solidFill>
                <a:latin typeface="微软雅黑" panose="020B0503020204020204" charset="-122"/>
              </a:defRPr>
            </a:pPr>
            <a:r>
              <a:t>用户修改账号信息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1605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个人中心三大功能入口：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├─ 查看账号信息（需密码验证→完整信息）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├─ 修改个人信息（需密码验证→修改）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└─ 修改登录密码（需密码验证→修改）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6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修改流程：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1. 点击修改→弹出密码验证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2. 验证通过→展示完整信息/允许修改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3. 修改昵称、手机号等个人信息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4. 修改登录密码需验证对应的信息后修改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914400"/>
            <a:ext cx="5486400" cy="5212080"/>
          </a:xfrm>
          <a:prstGeom prst="roundRect">
            <a:avLst/>
          </a:prstGeom>
          <a:solidFill>
            <a:srgbClr val="FD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0058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6A17"/>
                </a:solidFill>
                <a:latin typeface="微软雅黑" panose="020B0503020204020204" charset="-122"/>
              </a:defRPr>
            </a:pPr>
            <a:r>
              <a:t>安全设计理念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46304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1. 脱敏显示 — 最小权限原则</a:t>
            </a: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├─ 默认只展示不完全信息</a:t>
            </a: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├─ 手机号脱敏：138****8888</a:t>
            </a: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├─ 邮箱脱敏：abc***@qq.com</a:t>
            </a: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└─ 密码验证后才解锁完整信息查看权限</a:t>
            </a: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2. 密码验证 — 操作前鉴权</a:t>
            </a: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├─ 查看完整信息 → 需密码验证</a:t>
            </a: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├─ 修改个人信息 → 需密码验证</a:t>
            </a: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└─ 修改登录密码 → 需密码验证</a:t>
            </a: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3. 头像管理</a:t>
            </a: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├─ 支持图片上传，Base64存储</a:t>
            </a: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├─ 个人中心点击头像可修改</a:t>
            </a: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└─ 前端预览 + 后端存储</a:t>
            </a: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4. 防误操作设计</a:t>
            </a: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├─ 修改操作需二次确认</a:t>
            </a: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└─ 关键信息修改有提示弹窗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功能实现 — 租车服务管理 [</a:t>
            </a:r>
            <a:r>
              <a:rPr lang="zh-CN"/>
              <a:t>金杭</a:t>
            </a:r>
            <a:r>
              <a:t>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99AA"/>
                </a:solidFill>
                <a:latin typeface="微软雅黑" panose="020B0503020204020204" charset="-122"/>
              </a:defRPr>
            </a:pPr>
            <a:r>
              <a:t>RENTAL SERVICE MANAGEMENT — superxiaohang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12/19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租车核心业务流程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463040"/>
            <a:ext cx="1828800" cy="17373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1463040"/>
            <a:ext cx="1828800" cy="548640"/>
          </a:xfrm>
          <a:prstGeom prst="roundRect">
            <a:avLst/>
          </a:prstGeom>
          <a:solidFill>
            <a:srgbClr val="162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步骤 1</a:t>
            </a:r>
          </a:p>
          <a:p>
            <a:pPr algn="l">
              <a:spcAft>
                <a:spcPts val="300"/>
              </a:spcAft>
              <a:defRPr sz="1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浏览车辆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03120"/>
            <a:ext cx="1645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70"/>
              </a:spcAft>
              <a:defRPr sz="8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首页展示35辆车</a:t>
            </a:r>
          </a:p>
          <a:p>
            <a:pPr algn="l">
              <a:spcAft>
                <a:spcPts val="370"/>
              </a:spcAft>
              <a:defRPr sz="8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图片+状态+价格</a:t>
            </a:r>
          </a:p>
          <a:p>
            <a:pPr algn="l">
              <a:spcAft>
                <a:spcPts val="370"/>
              </a:spcAft>
              <a:defRPr sz="8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猜你想搜+快速排序</a:t>
            </a:r>
          </a:p>
          <a:p>
            <a:pPr algn="l">
              <a:spcAft>
                <a:spcPts val="370"/>
              </a:spcAft>
              <a:defRPr sz="8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分类筛选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203704" y="2148840"/>
            <a:ext cx="164592" cy="228600"/>
          </a:xfrm>
          <a:prstGeom prst="rightArrow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377440" y="1463040"/>
            <a:ext cx="1828800" cy="17373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377440" y="1463040"/>
            <a:ext cx="1828800" cy="54864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77440" y="15087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步骤 2</a:t>
            </a:r>
          </a:p>
          <a:p>
            <a:pPr algn="l">
              <a:spcAft>
                <a:spcPts val="300"/>
              </a:spcAft>
              <a:defRPr sz="1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选择车辆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2103120"/>
            <a:ext cx="1645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70"/>
              </a:spcAft>
              <a:defRPr sz="8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查看车辆详情</a:t>
            </a:r>
          </a:p>
          <a:p>
            <a:pPr algn="l">
              <a:spcAft>
                <a:spcPts val="370"/>
              </a:spcAft>
              <a:defRPr sz="8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品牌/座位/用途</a:t>
            </a:r>
          </a:p>
          <a:p>
            <a:pPr algn="l">
              <a:spcAft>
                <a:spcPts val="370"/>
              </a:spcAft>
              <a:defRPr sz="8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里程/保养记录</a:t>
            </a:r>
          </a:p>
          <a:p>
            <a:pPr algn="l">
              <a:spcAft>
                <a:spcPts val="370"/>
              </a:spcAft>
              <a:defRPr sz="8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点击图片查看详情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215384" y="2148840"/>
            <a:ext cx="164592" cy="228600"/>
          </a:xfrm>
          <a:prstGeom prst="rightArrow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89120" y="1463040"/>
            <a:ext cx="1828800" cy="17373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389120" y="1463040"/>
            <a:ext cx="1828800" cy="548640"/>
          </a:xfrm>
          <a:prstGeom prst="roundRect">
            <a:avLst/>
          </a:prstGeom>
          <a:solidFill>
            <a:srgbClr val="0D9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0" y="15087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步骤 3</a:t>
            </a:r>
          </a:p>
          <a:p>
            <a:pPr algn="l">
              <a:spcAft>
                <a:spcPts val="300"/>
              </a:spcAft>
              <a:defRPr sz="1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选择方式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2103120"/>
            <a:ext cx="1645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70"/>
              </a:spcAft>
              <a:defRPr sz="8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立即租车/预约租车</a:t>
            </a:r>
          </a:p>
          <a:p>
            <a:pPr algn="l">
              <a:spcAft>
                <a:spcPts val="370"/>
              </a:spcAft>
              <a:defRPr sz="8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选择起止时间</a:t>
            </a:r>
          </a:p>
          <a:p>
            <a:pPr algn="l">
              <a:spcAft>
                <a:spcPts val="370"/>
              </a:spcAft>
              <a:defRPr sz="8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可选带司机服务</a:t>
            </a:r>
          </a:p>
          <a:p>
            <a:pPr algn="l">
              <a:spcAft>
                <a:spcPts val="370"/>
              </a:spcAft>
              <a:defRPr sz="8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6小时缓冲时间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6227064" y="2148840"/>
            <a:ext cx="164592" cy="228600"/>
          </a:xfrm>
          <a:prstGeom prst="rightArrow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0" y="1463040"/>
            <a:ext cx="1828800" cy="17373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0" y="1463040"/>
            <a:ext cx="1828800" cy="548640"/>
          </a:xfrm>
          <a:prstGeom prst="round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15087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步骤 4</a:t>
            </a:r>
          </a:p>
          <a:p>
            <a:pPr algn="l">
              <a:spcAft>
                <a:spcPts val="300"/>
              </a:spcAft>
              <a:defRPr sz="1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支付押金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2103120"/>
            <a:ext cx="1645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70"/>
              </a:spcAft>
              <a:defRPr sz="8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押金按车型</a:t>
            </a:r>
          </a:p>
          <a:p>
            <a:pPr algn="l">
              <a:spcAft>
                <a:spcPts val="370"/>
              </a:spcAft>
              <a:defRPr sz="8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在线支付确认</a:t>
            </a:r>
          </a:p>
          <a:p>
            <a:pPr algn="l">
              <a:spcAft>
                <a:spcPts val="370"/>
              </a:spcAft>
              <a:defRPr sz="8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支付交互模拟感</a:t>
            </a:r>
          </a:p>
          <a:p>
            <a:pPr algn="l">
              <a:spcAft>
                <a:spcPts val="370"/>
              </a:spcAft>
              <a:defRPr sz="8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订单状态→在租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8238744" y="2148840"/>
            <a:ext cx="164592" cy="228600"/>
          </a:xfrm>
          <a:prstGeom prst="rightArrow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412480" y="1463040"/>
            <a:ext cx="1828800" cy="17373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412480" y="1463040"/>
            <a:ext cx="1828800" cy="54864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0" y="15087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步骤 5</a:t>
            </a:r>
          </a:p>
          <a:p>
            <a:pPr algn="l">
              <a:spcAft>
                <a:spcPts val="300"/>
              </a:spcAft>
              <a:defRPr sz="1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使用车辆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2103120"/>
            <a:ext cx="1645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70"/>
              </a:spcAft>
              <a:defRPr sz="8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车辆状态→已租</a:t>
            </a:r>
          </a:p>
          <a:p>
            <a:pPr algn="l">
              <a:spcAft>
                <a:spcPts val="370"/>
              </a:spcAft>
              <a:defRPr sz="8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记录取车里程</a:t>
            </a:r>
          </a:p>
          <a:p>
            <a:pPr algn="l">
              <a:spcAft>
                <a:spcPts val="370"/>
              </a:spcAft>
              <a:defRPr sz="8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排他性锁定</a:t>
            </a:r>
          </a:p>
          <a:p>
            <a:pPr algn="l">
              <a:spcAft>
                <a:spcPts val="370"/>
              </a:spcAft>
              <a:defRPr sz="8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待处理订单提醒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10250424" y="2148840"/>
            <a:ext cx="164592" cy="228600"/>
          </a:xfrm>
          <a:prstGeom prst="rightArrow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424160" y="1463040"/>
            <a:ext cx="1828800" cy="17373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0424160" y="1463040"/>
            <a:ext cx="1828800" cy="548640"/>
          </a:xfrm>
          <a:prstGeom prst="round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424160" y="15087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步骤 6</a:t>
            </a:r>
          </a:p>
          <a:p>
            <a:pPr algn="l">
              <a:spcAft>
                <a:spcPts val="300"/>
              </a:spcAft>
              <a:defRPr sz="1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归还结算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2103120"/>
            <a:ext cx="1645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70"/>
              </a:spcAft>
              <a:defRPr sz="8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记录还车里程</a:t>
            </a:r>
          </a:p>
          <a:p>
            <a:pPr algn="l">
              <a:spcAft>
                <a:spcPts val="370"/>
              </a:spcAft>
              <a:defRPr sz="8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计算租金费用</a:t>
            </a:r>
          </a:p>
          <a:p>
            <a:pPr algn="l">
              <a:spcAft>
                <a:spcPts val="370"/>
              </a:spcAft>
              <a:defRPr sz="8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押金退还/补缴</a:t>
            </a:r>
          </a:p>
          <a:p>
            <a:pPr algn="l">
              <a:spcAft>
                <a:spcPts val="370"/>
              </a:spcAft>
              <a:defRPr sz="8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提前归还二次确认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3474720"/>
            <a:ext cx="11430000" cy="2776855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35661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核心业务逻辑与拓展交互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3931920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车辆浏览：猜你想搜（按品牌搜索，鼠标移开快速消失）+ 快速排列功能按钮 + 切换车型一步退出到点击前位置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租赁缓冲：租车有6小时缓冲时间，需先缴纳押金才能进入下一步，同时算有订单记录成立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支付方式：押金和租金可同时缴纳，也可后续缴纳，但还车前会验证是否缴纳租金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待处理提醒：登录后界面有待处理订单提醒，有确认取用功能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归还规则：用户可以提前归还车辆但租金不会退回，只退回押金，需要用户两次确认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取消政策：每个用户一天可以取消一次订单，租车1h内可取消，预约2h内可取消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支付交互：支付界面的交互感、模拟感，不是直接点击就过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预约排他性：一辆车在已被预约期间不能再被其他用户预约或租赁，防止冲突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费用计算：日租金 × 天数 + 司机服务费(可选) - 优惠折扣，押金独立计算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新用户优惠：首单5折，最高减200元，通过discount字段记录优惠金额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功能实现 — 订单与支付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99AA"/>
                </a:solidFill>
                <a:latin typeface="微软雅黑" panose="020B0503020204020204" charset="-122"/>
              </a:defRPr>
            </a:pPr>
            <a:r>
              <a:t>ORDER &amp; PAYMENT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13/19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订单状态流转</a:t>
            </a:r>
          </a:p>
        </p:txBody>
      </p:sp>
      <p:sp>
        <p:nvSpPr>
          <p:cNvPr id="8" name="Oval 7"/>
          <p:cNvSpPr/>
          <p:nvPr/>
        </p:nvSpPr>
        <p:spPr>
          <a:xfrm>
            <a:off x="1005840" y="1371600"/>
            <a:ext cx="640080" cy="640080"/>
          </a:xfrm>
          <a:prstGeom prst="ellipse">
            <a:avLst/>
          </a:prstGeom>
          <a:solidFill>
            <a:srgbClr val="162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4630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57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621E3"/>
                </a:solidFill>
                <a:latin typeface="微软雅黑" panose="020B0503020204020204" charset="-122"/>
              </a:defRPr>
            </a:pPr>
            <a:r>
              <a:t>待支付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创建订单后</a:t>
            </a:r>
          </a:p>
        </p:txBody>
      </p:sp>
      <p:sp>
        <p:nvSpPr>
          <p:cNvPr id="12" name="Oval 11"/>
          <p:cNvSpPr/>
          <p:nvPr/>
        </p:nvSpPr>
        <p:spPr>
          <a:xfrm>
            <a:off x="2926080" y="1371600"/>
            <a:ext cx="640080" cy="640080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4630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2057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在租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23317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支付押金后</a:t>
            </a:r>
          </a:p>
        </p:txBody>
      </p:sp>
      <p:sp>
        <p:nvSpPr>
          <p:cNvPr id="16" name="Oval 15"/>
          <p:cNvSpPr/>
          <p:nvPr/>
        </p:nvSpPr>
        <p:spPr>
          <a:xfrm>
            <a:off x="4846320" y="1371600"/>
            <a:ext cx="640080" cy="64008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0" y="14630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2057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已完成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23317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归还结算后</a:t>
            </a:r>
          </a:p>
        </p:txBody>
      </p:sp>
      <p:sp>
        <p:nvSpPr>
          <p:cNvPr id="20" name="Oval 19"/>
          <p:cNvSpPr/>
          <p:nvPr/>
        </p:nvSpPr>
        <p:spPr>
          <a:xfrm>
            <a:off x="1005840" y="2560320"/>
            <a:ext cx="640080" cy="640080"/>
          </a:xfrm>
          <a:prstGeom prst="ellipse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26517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246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53E3E"/>
                </a:solidFill>
                <a:latin typeface="微软雅黑" panose="020B0503020204020204" charset="-122"/>
              </a:defRPr>
            </a:pPr>
            <a:r>
              <a:t>已取消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5204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用户取消</a:t>
            </a:r>
          </a:p>
        </p:txBody>
      </p:sp>
      <p:sp>
        <p:nvSpPr>
          <p:cNvPr id="24" name="Oval 23"/>
          <p:cNvSpPr/>
          <p:nvPr/>
        </p:nvSpPr>
        <p:spPr>
          <a:xfrm>
            <a:off x="2926080" y="2560320"/>
            <a:ext cx="640080" cy="640080"/>
          </a:xfrm>
          <a:prstGeom prst="ellipse">
            <a:avLst/>
          </a:prstGeom>
          <a:solidFill>
            <a:srgbClr val="0D9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26080" y="26517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77440" y="3246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D9D8E"/>
                </a:solidFill>
                <a:latin typeface="微软雅黑" panose="020B0503020204020204" charset="-122"/>
              </a:defRPr>
            </a:pPr>
            <a:r>
              <a:t>预约中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77440" y="35204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预约租车</a:t>
            </a:r>
          </a:p>
        </p:txBody>
      </p:sp>
      <p:sp>
        <p:nvSpPr>
          <p:cNvPr id="28" name="Oval 27"/>
          <p:cNvSpPr/>
          <p:nvPr/>
        </p:nvSpPr>
        <p:spPr>
          <a:xfrm>
            <a:off x="4846320" y="2560320"/>
            <a:ext cx="640080" cy="640080"/>
          </a:xfrm>
          <a:prstGeom prst="ellipse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46320" y="26517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3246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86A17"/>
                </a:solidFill>
                <a:latin typeface="微软雅黑" panose="020B0503020204020204" charset="-122"/>
              </a:defRPr>
            </a:pPr>
            <a:r>
              <a:t>已退款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80" y="35204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取消后退款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914400"/>
            <a:ext cx="5486400" cy="237744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0" y="1005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621E3"/>
                </a:solidFill>
                <a:latin typeface="微软雅黑" panose="020B0503020204020204" charset="-122"/>
              </a:defRPr>
            </a:pPr>
            <a:r>
              <a:t>费用计算模型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13716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总费用 = 日租金 × 天数 + 司机服务费(可选) - 优惠折扣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押金 = 按车型设定（¥1,500 ~ ¥15,000）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支付流程：先付押金 → 取车使用 → 归还时结算租金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押金多退少补：超里程/超时 → 补缴；正常 → 退还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优惠券：新用户首单5折，最高减¥200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支付交互感：模拟感，不是直接点击就过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3474720"/>
            <a:ext cx="5486400" cy="2651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0" y="3566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订单中心功能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3931920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我的订单：查看个人全部租车记录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待处理订单提醒：登录后界面提醒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订单详情：含车辆信息、费用明细、里程记录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订单操作：支付押金/租金、取消、还车、评价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管理员视图：查看所有用户订单，可重置/恢复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取消政策：一天一次，租车1h内/预约2h内可取消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评价系统：1-5星评分 + 文字评价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3931920"/>
            <a:ext cx="5486400" cy="2194560"/>
          </a:xfrm>
          <a:prstGeom prst="roundRect">
            <a:avLst/>
          </a:prstGeom>
          <a:solidFill>
            <a:srgbClr val="FD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4023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6A17"/>
                </a:solidFill>
                <a:latin typeface="微软雅黑" panose="020B0503020204020204" charset="-122"/>
              </a:defRPr>
            </a:pPr>
            <a:r>
              <a:t>关键流转规则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438912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待支付 → 支付押金 → 在租</a:t>
            </a:r>
          </a:p>
          <a:p>
            <a:pPr algn="l">
              <a:spcAft>
                <a:spcPts val="7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在租 → 归还车辆 → 已完成</a:t>
            </a:r>
          </a:p>
          <a:p>
            <a:pPr algn="l">
              <a:spcAft>
                <a:spcPts val="7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待支付/预约中 → 取消 → 已取消 → 退款 → 已退款</a:t>
            </a:r>
          </a:p>
          <a:p>
            <a:pPr algn="l">
              <a:spcAft>
                <a:spcPts val="7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提前归还：租金不退，只退押金，需两次确认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AI智能选车助手（基础任务 - 必选）[共同部分]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99AA"/>
                </a:solidFill>
                <a:latin typeface="微软雅黑" panose="020B0503020204020204" charset="-122"/>
              </a:defRPr>
            </a:pPr>
            <a:r>
              <a:t>AI SMART CAR RECOMMENDATION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14/19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0" y="91440"/>
            <a:ext cx="1371600" cy="320040"/>
          </a:xfrm>
          <a:prstGeom prst="round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1097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基础任务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功能概述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371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用户通过自然语言描述需求（如"周末家庭出游三天，需要坐5人，预算400元/天"），后端将需求传给大模型API（DeepSeek），AI从可用车辆列表中推荐最匹配的3辆车，给出推荐理由和匹配度评分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031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技术实现流程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2560320"/>
            <a:ext cx="1828800" cy="1188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5760" y="2560320"/>
            <a:ext cx="1828800" cy="365760"/>
          </a:xfrm>
          <a:prstGeom prst="roundRect">
            <a:avLst/>
          </a:prstGeom>
          <a:solidFill>
            <a:srgbClr val="162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606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1.前端输入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01752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80"/>
              </a:spcAft>
              <a:defRPr sz="9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用户在AI助手</a:t>
            </a:r>
          </a:p>
          <a:p>
            <a:pPr algn="l">
              <a:spcAft>
                <a:spcPts val="380"/>
              </a:spcAft>
              <a:defRPr sz="9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对话框输入需求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203704" y="2971800"/>
            <a:ext cx="164592" cy="228600"/>
          </a:xfrm>
          <a:prstGeom prst="rightArrow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377440" y="2560320"/>
            <a:ext cx="1828800" cy="1188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377440" y="2560320"/>
            <a:ext cx="1828800" cy="36576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77440" y="2606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2.需求判断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301752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80"/>
              </a:spcAft>
              <a:defRPr sz="9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isCarRelated</a:t>
            </a:r>
          </a:p>
          <a:p>
            <a:pPr algn="l">
              <a:spcAft>
                <a:spcPts val="380"/>
              </a:spcAft>
              <a:defRPr sz="9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判断是否租车相关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215384" y="2971800"/>
            <a:ext cx="164592" cy="228600"/>
          </a:xfrm>
          <a:prstGeom prst="rightArrow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389120" y="2560320"/>
            <a:ext cx="1828800" cy="1188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389120" y="2560320"/>
            <a:ext cx="1828800" cy="365760"/>
          </a:xfrm>
          <a:prstGeom prst="roundRect">
            <a:avLst/>
          </a:prstGeom>
          <a:solidFill>
            <a:srgbClr val="0D9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0" y="2606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3.车辆列表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301752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80"/>
              </a:spcAft>
              <a:defRPr sz="9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查询所有可租车辆</a:t>
            </a:r>
          </a:p>
          <a:p>
            <a:pPr algn="l">
              <a:spcAft>
                <a:spcPts val="380"/>
              </a:spcAft>
              <a:defRPr sz="9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构建车辆信息文本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6227064" y="2971800"/>
            <a:ext cx="164592" cy="228600"/>
          </a:xfrm>
          <a:prstGeom prst="rightArrow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00800" y="2560320"/>
            <a:ext cx="1828800" cy="1188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00800" y="2560320"/>
            <a:ext cx="1828800" cy="365760"/>
          </a:xfrm>
          <a:prstGeom prst="round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2606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4.大模型调用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301752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80"/>
              </a:spcAft>
              <a:defRPr sz="9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构造system prompt</a:t>
            </a:r>
          </a:p>
          <a:p>
            <a:pPr algn="l">
              <a:spcAft>
                <a:spcPts val="380"/>
              </a:spcAft>
              <a:defRPr sz="9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调用DeepSeek API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8238744" y="2971800"/>
            <a:ext cx="164592" cy="228600"/>
          </a:xfrm>
          <a:prstGeom prst="rightArrow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412480" y="2560320"/>
            <a:ext cx="1828800" cy="1188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412480" y="2560320"/>
            <a:ext cx="1828800" cy="36576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0" y="2606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5.JSON解析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301752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80"/>
              </a:spcAft>
              <a:defRPr sz="9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解析返回的JSON</a:t>
            </a:r>
          </a:p>
          <a:p>
            <a:pPr algn="l">
              <a:spcAft>
                <a:spcPts val="380"/>
              </a:spcAft>
              <a:defRPr sz="9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提取推荐结果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10250424" y="2971800"/>
            <a:ext cx="164592" cy="228600"/>
          </a:xfrm>
          <a:prstGeom prst="rightArrow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424160" y="2560320"/>
            <a:ext cx="1828800" cy="1188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0424160" y="2560320"/>
            <a:ext cx="1828800" cy="365760"/>
          </a:xfrm>
          <a:prstGeom prst="round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424160" y="2606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6.前端展示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301752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80"/>
              </a:spcAft>
              <a:defRPr sz="9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展示推荐车辆</a:t>
            </a:r>
          </a:p>
          <a:p>
            <a:pPr algn="l">
              <a:spcAft>
                <a:spcPts val="380"/>
              </a:spcAft>
              <a:defRPr sz="9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匹配度+推荐理由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4023360"/>
            <a:ext cx="11430000" cy="21031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4114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技术亮点与设计细节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448056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50"/>
              </a:spcAft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System Prompt工程：定义商务/婚庆/家庭/通勤四大场景区分规则，引导AI按用途类型精准推荐</a:t>
            </a:r>
          </a:p>
          <a:p>
            <a:pPr algn="l">
              <a:spcAft>
                <a:spcPts val="750"/>
              </a:spcAft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本地降级策略：API不可用时自动切换fallbackRecommend()，通过关键词匹配+评分算法本地推荐</a:t>
            </a:r>
          </a:p>
          <a:p>
            <a:pPr algn="l">
              <a:spcAft>
                <a:spcPts val="750"/>
              </a:spcAft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匹配度算法：calcMatchScore()多维度打分（用途匹配+品牌+颜色+座位+价格+车型），满分98分</a:t>
            </a:r>
          </a:p>
          <a:p>
            <a:pPr algn="l">
              <a:spcAft>
                <a:spcPts val="750"/>
              </a:spcAft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对话上下文记忆：callOpenAIWithHistory()保留最近10轮对话历史，实现连贯交互体验</a:t>
            </a:r>
          </a:p>
          <a:p>
            <a:pPr algn="l">
              <a:spcAft>
                <a:spcPts val="750"/>
              </a:spcAft>
              <a:defRPr sz="11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多会话管理：前端localStorage持久化，用户可创建多个独立对话，侧边栏展示会话列表自由切换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AI车辆维护预测看板（进阶任务 - 加分）[共同部分]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99AA"/>
                </a:solidFill>
                <a:latin typeface="微软雅黑" panose="020B0503020204020204" charset="-122"/>
              </a:defRPr>
            </a:pPr>
            <a:r>
              <a:t>AI MAINTENANCE PREDICTION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15/19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0" y="91440"/>
            <a:ext cx="1371600" cy="320040"/>
          </a:xfrm>
          <a:prstGeom prst="round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1097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进阶任务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914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RAG检索增强生成架构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5486400" cy="54864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371600"/>
            <a:ext cx="109728" cy="548640"/>
          </a:xfrm>
          <a:prstGeom prst="roundRect">
            <a:avLst/>
          </a:prstGeom>
          <a:solidFill>
            <a:srgbClr val="162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4173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621E3"/>
                </a:solidFill>
                <a:latin typeface="微软雅黑" panose="020B0503020204020204" charset="-122"/>
              </a:defRPr>
            </a:pPr>
            <a:r>
              <a:t>知识库构建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14173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保养记录+订单里程→文本摘要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029967"/>
            <a:ext cx="5486400" cy="54864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7200" y="2029967"/>
            <a:ext cx="109728" cy="54864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075687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向量化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2075687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EmbeddingService调用大模型生成向量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688336"/>
            <a:ext cx="5486400" cy="54864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7200" y="2688336"/>
            <a:ext cx="109728" cy="548640"/>
          </a:xfrm>
          <a:prstGeom prst="roundRect">
            <a:avLst/>
          </a:prstGeom>
          <a:solidFill>
            <a:srgbClr val="0D9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2734056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D9D8E"/>
                </a:solidFill>
                <a:latin typeface="微软雅黑" panose="020B0503020204020204" charset="-122"/>
              </a:defRPr>
            </a:pPr>
            <a:r>
              <a:t>存储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2734056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ConcurrentHashMap内存知识库，定时更新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346704"/>
            <a:ext cx="5486400" cy="54864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57200" y="3346704"/>
            <a:ext cx="109728" cy="548640"/>
          </a:xfrm>
          <a:prstGeom prst="round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392424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6A17"/>
                </a:solidFill>
                <a:latin typeface="微软雅黑" panose="020B0503020204020204" charset="-122"/>
              </a:defRPr>
            </a:pPr>
            <a:r>
              <a:t>检索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77440" y="3392424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余弦相似度计算Top-K相似案例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005072"/>
            <a:ext cx="5486400" cy="54864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57200" y="4005072"/>
            <a:ext cx="109728" cy="54864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05079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增强生成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40" y="405079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相似案例+车辆数据→System Prompt→大模型预测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663440"/>
            <a:ext cx="5486400" cy="54864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57200" y="4663440"/>
            <a:ext cx="109728" cy="548640"/>
          </a:xfrm>
          <a:prstGeom prst="round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4709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4A017"/>
                </a:solidFill>
                <a:latin typeface="微软雅黑" panose="020B0503020204020204" charset="-122"/>
              </a:defRPr>
            </a:pPr>
            <a:r>
              <a:t>看板展示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77440" y="47091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风险评分+建议→预警看板→管理员端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914400"/>
            <a:ext cx="5486400" cy="2560320"/>
          </a:xfrm>
          <a:prstGeom prst="roundRect">
            <a:avLst/>
          </a:prstGeom>
          <a:solidFill>
            <a:srgbClr val="FD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0" y="1005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6A17"/>
                </a:solidFill>
                <a:latin typeface="微软雅黑" panose="020B0503020204020204" charset="-122"/>
              </a:defRPr>
            </a:pPr>
            <a:r>
              <a:t>风险评分模型（0-100分）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137160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里程因素（权重最高）：总里程&gt;8万km +45分</a:t>
            </a: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距上次保养里程：&gt;8000km +30分</a:t>
            </a: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距上次保养时间：&gt;365天 +25分</a:t>
            </a: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维修频率：≥3次维修 +30分</a:t>
            </a: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保养频率：记录≤1但里程&gt;2万 +15分</a:t>
            </a: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车辆状态：维护中 +20分</a:t>
            </a: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风险等级：低(0-24) / 中(25-49) / 高(50-100)</a:t>
            </a: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寿命评估：&gt;4万km按15万km寿命估算剩余%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3657600"/>
            <a:ext cx="5486400" cy="24688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0" y="374903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看板功能与技术亮点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4114800"/>
            <a:ext cx="5029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全量车辆维护预测：一览所有车辆风险评分与建议</a:t>
            </a: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AI/本地双模式：API可用调大模型，不可用本地降级</a:t>
            </a: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缓存机制：预测结果缓存，避免重复调用API</a:t>
            </a: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定时任务：@Scheduled定期更新RAG知识库向量</a:t>
            </a: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RAG相似案例：检索Top-3相似保养记录辅助决策</a:t>
            </a: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快速预测：getQuickPrediction()纯本地计算</a:t>
            </a: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预测内容：下次保养日期+类型+建议+风险等级</a:t>
            </a: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新能源特殊建议：电池健康度/充电效率检测建议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系统界面展示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99AA"/>
                </a:solidFill>
                <a:latin typeface="微软雅黑" panose="020B0503020204020204" charset="-122"/>
              </a:defRPr>
            </a:pPr>
            <a:r>
              <a:t>SYSTEM UI SHOWCASE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16/19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914400"/>
            <a:ext cx="36576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914400"/>
            <a:ext cx="365760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960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登录/注册页面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渐变背景设计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表单验证提示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注册/登录切换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忘记密码入口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欢迎弹窗渐变消失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914400"/>
            <a:ext cx="36576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9120" y="914400"/>
            <a:ext cx="3657600" cy="411480"/>
          </a:xfrm>
          <a:prstGeom prst="roundRect">
            <a:avLst/>
          </a:prstGeom>
          <a:solidFill>
            <a:srgbClr val="162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960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首页车辆浏览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417320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车辆卡片网格布局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分类标签筛选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状态徽章(空闲/已租)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猜你想搜+快速排序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点击图片查看详情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914400"/>
            <a:ext cx="36576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21040" y="914400"/>
            <a:ext cx="3657600" cy="411480"/>
          </a:xfrm>
          <a:prstGeom prst="roundRect">
            <a:avLst/>
          </a:prstGeom>
          <a:solidFill>
            <a:srgbClr val="0D9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960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车辆详情页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1417320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车辆大图展示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参数信息表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保养历史记录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租赁/预约按钮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切换车型一步退出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474720"/>
            <a:ext cx="36576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7200" y="3474720"/>
            <a:ext cx="3657600" cy="411480"/>
          </a:xfrm>
          <a:prstGeom prst="round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3520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AI智能助手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977640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聊天对话界面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推荐车辆卡片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匹配度评分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上下文记忆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多会话管理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3474720"/>
            <a:ext cx="36576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389120" y="3474720"/>
            <a:ext cx="3657600" cy="41148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26280" y="3520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订单中心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3977640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订单列表/详情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状态标签筛选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待处理订单提醒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费用明细展示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评价评分功能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21040" y="3474720"/>
            <a:ext cx="3657600" cy="23317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321040" y="3474720"/>
            <a:ext cx="3657600" cy="411480"/>
          </a:xfrm>
          <a:prstGeom prst="round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58200" y="3520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  维护预测看板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3977640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全量车辆风险概览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风险等级色彩标识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维护建议展示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相似案例检索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AI/本地双模式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额外实现功能点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99AA"/>
                </a:solidFill>
                <a:latin typeface="微软雅黑" panose="020B0503020204020204" charset="-122"/>
              </a:defRPr>
            </a:pPr>
            <a:r>
              <a:t>EXTRA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17/19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914400"/>
            <a:ext cx="5486400" cy="274320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005840"/>
            <a:ext cx="4572000" cy="321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621E3"/>
                </a:solidFill>
                <a:latin typeface="微软雅黑" panose="020B0503020204020204" charset="-122"/>
              </a:defRPr>
            </a:pPr>
            <a:r>
              <a:t>金杭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17320"/>
            <a:ext cx="5029200" cy="248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优惠券系统</a:t>
            </a: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├─ 新用户首单5折，最高减200元</a:t>
            </a: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├─ 通过discount字段记录优惠金额</a:t>
            </a: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└─ 订单结算时自动计算折扣</a:t>
            </a: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司机管理</a:t>
            </a: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├─ 可选带司机服务</a:t>
            </a: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├─ 10位司机信息管理</a:t>
            </a: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└─ 司机状态：空闲/服务/休假/离职</a:t>
            </a: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914400"/>
            <a:ext cx="5486400" cy="2743200"/>
          </a:xfrm>
          <a:prstGeom prst="roundRect">
            <a:avLst/>
          </a:prstGeom>
          <a:solidFill>
            <a:srgbClr val="FD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005840"/>
            <a:ext cx="4572000" cy="321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6A17"/>
                </a:solidFill>
                <a:latin typeface="微软雅黑" panose="020B0503020204020204" charset="-122"/>
              </a:defRPr>
            </a:pPr>
            <a:r>
              <a:t>许海青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417320"/>
            <a:ext cx="5029200" cy="469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</a:t>
            </a: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931920"/>
            <a:ext cx="11430000" cy="21945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0233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可延长完善的功能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9270" y="4343400"/>
            <a:ext cx="9406255" cy="17392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Aft>
                <a:spcPts val="6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</a:t>
            </a:r>
            <a:r>
              <a:rPr sz="1200"/>
              <a:t>汽车的租赁点和还车点</a:t>
            </a:r>
            <a:endParaRPr sz="1200"/>
          </a:p>
          <a:p>
            <a:pPr algn="l">
              <a:spcAft>
                <a:spcPts val="6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200"/>
              <a:t>  ├─ 地图集成：在地图上标注取车点和还车点</a:t>
            </a:r>
            <a:endParaRPr sz="1200"/>
          </a:p>
          <a:p>
            <a:pPr algn="l">
              <a:spcAft>
                <a:spcPts val="6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200"/>
              <a:t>  ├─ 导航功能：从当前位置导航到取车点</a:t>
            </a:r>
            <a:endParaRPr sz="1200"/>
          </a:p>
          <a:p>
            <a:pPr algn="l">
              <a:spcAft>
                <a:spcPts val="6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200"/>
              <a:t>  ├─ 多点位管理：支持多个租赁点和还车点</a:t>
            </a:r>
            <a:endParaRPr sz="1200"/>
          </a:p>
          <a:p>
            <a:pPr algn="l">
              <a:spcAft>
                <a:spcPts val="6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200"/>
              <a:t>  └─ 还车点验证：GPS定位验证是否在指定区域还车</a:t>
            </a:r>
            <a:endParaRPr sz="1200"/>
          </a:p>
          <a:p>
            <a:pPr algn="l">
              <a:spcAft>
                <a:spcPts val="6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endParaRPr sz="1200"/>
          </a:p>
        </p:txBody>
      </p:sp>
      <p:sp>
        <p:nvSpPr>
          <p:cNvPr id="16" name="文本框 15"/>
          <p:cNvSpPr txBox="1"/>
          <p:nvPr/>
        </p:nvSpPr>
        <p:spPr>
          <a:xfrm>
            <a:off x="4224655" y="3931920"/>
            <a:ext cx="3894455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spcAft>
                <a:spcPts val="6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endParaRPr sz="1800"/>
          </a:p>
          <a:p>
            <a:pPr algn="l">
              <a:spcAft>
                <a:spcPts val="6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800">
                <a:sym typeface="+mn-ea"/>
              </a:rPr>
              <a:t> </a:t>
            </a:r>
            <a:r>
              <a:rPr sz="1200">
                <a:sym typeface="+mn-ea"/>
              </a:rPr>
              <a:t> 其他可拓展方向：</a:t>
            </a:r>
            <a:endParaRPr sz="1200"/>
          </a:p>
          <a:p>
            <a:pPr algn="l">
              <a:spcAft>
                <a:spcPts val="6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200">
                <a:sym typeface="+mn-ea"/>
              </a:rPr>
              <a:t>  ├─ 接入真实支付网关（微信/支付宝）</a:t>
            </a:r>
            <a:endParaRPr sz="1200"/>
          </a:p>
          <a:p>
            <a:pPr algn="l">
              <a:spcAft>
                <a:spcPts val="6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200">
                <a:sym typeface="+mn-ea"/>
              </a:rPr>
              <a:t>  ├─ 引入Redis缓存热点数据</a:t>
            </a:r>
            <a:endParaRPr sz="1200"/>
          </a:p>
          <a:p>
            <a:pPr algn="l">
              <a:spcAft>
                <a:spcPts val="6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200">
                <a:sym typeface="+mn-ea"/>
              </a:rPr>
              <a:t>  ├─ 移动端适配 / 微信小程序版本</a:t>
            </a:r>
            <a:endParaRPr sz="1200"/>
          </a:p>
          <a:p>
            <a:pPr algn="l">
              <a:spcAft>
                <a:spcPts val="60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200">
                <a:sym typeface="+mn-ea"/>
              </a:rPr>
              <a:t>  └─ 消息队列处理异步任务（邮件发送、AI预测计算）</a:t>
            </a:r>
            <a:endParaRPr sz="1200"/>
          </a:p>
          <a:p>
            <a:endParaRPr lang="zh-CN" altLang="en-US" sz="1200"/>
          </a:p>
        </p:txBody>
      </p:sp>
      <p:sp>
        <p:nvSpPr>
          <p:cNvPr id="17" name="文本框 16"/>
          <p:cNvSpPr txBox="1"/>
          <p:nvPr/>
        </p:nvSpPr>
        <p:spPr>
          <a:xfrm>
            <a:off x="6721475" y="1318260"/>
            <a:ext cx="1772920" cy="20377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1800">
                <a:sym typeface="+mn-ea"/>
              </a:rPr>
              <a:t> </a:t>
            </a:r>
            <a:r>
              <a:rPr sz="900">
                <a:sym typeface="+mn-ea"/>
              </a:rPr>
              <a:t>用户模块安全机制</a:t>
            </a:r>
            <a:endParaRPr sz="900">
              <a:sym typeface="+mn-ea"/>
            </a:endParaRP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900">
                <a:sym typeface="+mn-ea"/>
              </a:rPr>
              <a:t>  ├─ 账号冻结防护（5次失败递增锁定）</a:t>
            </a:r>
            <a:endParaRPr sz="900">
              <a:sym typeface="+mn-ea"/>
            </a:endParaRP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900">
                <a:sym typeface="+mn-ea"/>
              </a:rPr>
              <a:t>  ├─ QQ邮箱真实验证码找回密码</a:t>
            </a:r>
            <a:endParaRPr sz="900">
              <a:sym typeface="+mn-ea"/>
            </a:endParaRP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900">
                <a:sym typeface="+mn-ea"/>
              </a:rPr>
              <a:t>  ├─ 注册图形验证码人机验证</a:t>
            </a:r>
            <a:endParaRPr sz="900">
              <a:sym typeface="+mn-ea"/>
            </a:endParaRP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900">
                <a:sym typeface="+mn-ea"/>
              </a:rPr>
              <a:t>  ├─ 实时去空格输入过滤</a:t>
            </a:r>
            <a:endParaRPr sz="900">
              <a:sym typeface="+mn-ea"/>
            </a:endParaRP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900">
                <a:sym typeface="+mn-ea"/>
              </a:rPr>
              <a:t>  └─ 用户信息脱敏显示+密码验证</a:t>
            </a:r>
            <a:endParaRPr sz="900">
              <a:sym typeface="+mn-ea"/>
            </a:endParaRPr>
          </a:p>
          <a:p>
            <a:endParaRPr lang="zh-CN" altLang="en-US" sz="900"/>
          </a:p>
        </p:txBody>
      </p:sp>
      <p:sp>
        <p:nvSpPr>
          <p:cNvPr id="18" name="文本框 17"/>
          <p:cNvSpPr txBox="1"/>
          <p:nvPr/>
        </p:nvSpPr>
        <p:spPr>
          <a:xfrm>
            <a:off x="3385185" y="1327785"/>
            <a:ext cx="1901190" cy="10655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endParaRPr lang="zh-CN" altLang="en-US" sz="900"/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rPr sz="900">
                <a:sym typeface="+mn-ea"/>
              </a:rPr>
              <a:t>  </a:t>
            </a:r>
            <a:endParaRPr sz="900">
              <a:sym typeface="+mn-ea"/>
            </a:endParaRP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endParaRPr sz="900">
              <a:sym typeface="+mn-ea"/>
            </a:endParaRP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endParaRPr sz="900">
              <a:sym typeface="+mn-ea"/>
            </a:endParaRPr>
          </a:p>
          <a:p>
            <a:endParaRPr lang="zh-CN" altLang="en-US" sz="9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项目亮点与技术难点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99AA"/>
                </a:solidFill>
                <a:latin typeface="微软雅黑" panose="020B0503020204020204" charset="-122"/>
              </a:defRPr>
            </a:pPr>
            <a:r>
              <a:t>HIGHLIGHTS &amp; CHALLENGES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18/19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914400"/>
            <a:ext cx="5486400" cy="521208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005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21E3"/>
                </a:solidFill>
                <a:latin typeface="微软雅黑" panose="020B0503020204020204" charset="-122"/>
              </a:defRPr>
            </a:pPr>
            <a:r>
              <a:t>项目亮点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AI深度集成</a:t>
            </a: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构建完整AI服务层：选车推荐+对话助手+维护预测，三合一</a:t>
            </a: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RAG知识库</a:t>
            </a: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自研向量检索引擎，保养记录向量化+余弦相似度匹配</a:t>
            </a: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双模式降级</a:t>
            </a: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每个AI功能都有本地降级策略，API不可用时系统仍可运转</a:t>
            </a: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完整业务闭环</a:t>
            </a: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注册→选车→租赁→支付→归还→评价，全流程闭环</a:t>
            </a: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用户安全机制</a:t>
            </a: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账号冻结+邮箱验证码+人机验证+脱敏显示+去空格，多层防护</a:t>
            </a: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35辆真实数据</a:t>
            </a: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覆盖经济/家庭/商务/婚庆/新能源5大类别，含真实保养记录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914400"/>
            <a:ext cx="5486400" cy="5212080"/>
          </a:xfrm>
          <a:prstGeom prst="roundRect">
            <a:avLst/>
          </a:prstGeom>
          <a:solidFill>
            <a:srgbClr val="FD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005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6A17"/>
                </a:solidFill>
                <a:latin typeface="微软雅黑" panose="020B0503020204020204" charset="-122"/>
              </a:defRPr>
            </a:pPr>
            <a:r>
              <a:t>技术难点与解决方案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JWT认证与权限</a:t>
            </a: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JwtAuthInterceptor统一拦截，注入userId/role，isAdmin()校验</a:t>
            </a: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车辆状态并发</a:t>
            </a: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预约排他性：status字段+时间冲突检测，防止重复租赁</a:t>
            </a: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AI返回解析</a:t>
            </a: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大模型返回可能含markdown包裹，需cleaning后JSON解析</a:t>
            </a: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RAG向量化</a:t>
            </a: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EmbeddingService调用API生成向量，ConcurrentHashMap内存存储</a:t>
            </a: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费用计算逻辑</a:t>
            </a: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押金/租金分步支付，取消按时间窗口退款，里程超额补缴</a:t>
            </a: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账号冻结防绕过</a:t>
            </a: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localStorage持久化锁定状态，防止刷新页面绕过冻结限制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总结与展望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99AA"/>
                </a:solidFill>
                <a:latin typeface="微软雅黑" panose="020B0503020204020204" charset="-122"/>
              </a:defRPr>
            </a:pPr>
            <a:r>
              <a:t>SUMMARY &amp; FUTURE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微软雅黑" panose="020B0503020204020204" charset="-122"/>
              </a:defRPr>
            </a:pPr>
            <a:r>
              <a:t>19/19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914400"/>
            <a:ext cx="5486400" cy="521208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005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21E3"/>
                </a:solidFill>
                <a:latin typeface="微软雅黑" panose="020B0503020204020204" charset="-122"/>
              </a:defRPr>
            </a:pPr>
            <a:r>
              <a:t>项目总结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完成了汽车租赁系统的全栈开发，前后端分离</a:t>
            </a: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架构，Spring Boot + Vue 3 + MySQL</a:t>
            </a: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实现了登录注册、车辆浏览、租车/预约、费用</a:t>
            </a: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支付、订单管理等完整业务功能闭环</a:t>
            </a: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用户模块安全机制完善：账号冻结、邮箱验证</a:t>
            </a: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码、人机验证、脱敏显示、实时去空格</a:t>
            </a: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完成AI基础任务：智能选车助手，支持自然语</a:t>
            </a: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言需求输入，大模型推荐匹配车型</a:t>
            </a: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完成AI进阶任务：基于RAG知识库的车辆维护</a:t>
            </a: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预测看板，向量化检索+大模型预测+风险评分</a:t>
            </a: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35辆真实车辆数据，6张数据表，10位司机</a:t>
            </a: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数据，完整可演示的系统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914400"/>
            <a:ext cx="5486400" cy="5212080"/>
          </a:xfrm>
          <a:prstGeom prst="roundRect">
            <a:avLst/>
          </a:prstGeom>
          <a:solidFill>
            <a:srgbClr val="FD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005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6A17"/>
                </a:solidFill>
                <a:latin typeface="微软雅黑" panose="020B0503020204020204" charset="-122"/>
              </a:defRPr>
            </a:pPr>
            <a:r>
              <a:t>未来展望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接入真实支付网关（微信/支付宝），实现</a:t>
            </a: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在线支付闭环</a:t>
            </a: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引入Redis缓存热点数据，提升系统并发性能</a:t>
            </a: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增加车辆实时定位与轨迹追踪（GPS/物联网）</a:t>
            </a: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汽车租赁点和还车点功能完善</a:t>
            </a: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├─ 地图集成标注取还车点</a:t>
            </a: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└─ GPS定位验证还车区域</a:t>
            </a: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AI推荐模型微调：基于用户历史租车数据训</a:t>
            </a: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练个性化推荐模型</a:t>
            </a: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移动端适配 / 微信小程序版本开发</a:t>
            </a: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引入消息队列处理异步任务（邮件发送、AI</a:t>
            </a:r>
          </a:p>
          <a:p>
            <a:pPr algn="l">
              <a:spcAft>
                <a:spcPts val="550"/>
              </a:spcAft>
              <a:defRPr sz="10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预测计算），提升响应速度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1493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感谢各位老师的聆听与指导！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10018</Words>
  <Application>WPS 演示</Application>
  <PresentationFormat>On-screen Show (4:3)</PresentationFormat>
  <Paragraphs>1056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7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江庚ya-</cp:lastModifiedBy>
  <cp:revision>3</cp:revision>
  <dcterms:created xsi:type="dcterms:W3CDTF">2013-01-27T09:14:00Z</dcterms:created>
  <dcterms:modified xsi:type="dcterms:W3CDTF">2026-07-07T01:11:59Z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561595CE1F804C1CAC6E310399545901_12</vt:lpwstr>
  </property>
</Properties>
</file>